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926080"/>
            <a:ext cx="12188952" cy="54864"/>
          </a:xfrm>
          <a:prstGeom prst="rect">
            <a:avLst/>
          </a:prstGeom>
          <a:solidFill>
            <a:srgbClr val="0099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058400" cy="914400"/>
          </a:xfrm>
          <a:prstGeom prst="rect">
            <a:avLst/>
          </a:prstGeom>
          <a:noFill/>
        </p:spPr>
        <p:txBody>
          <a:bodyPr wrap="none">
            <a:spAutoFit/>
          </a:bodyPr>
          <a:lstStyle/>
          <a:p>
            <a:pPr>
              <a:defRPr sz="2400" b="0">
                <a:solidFill>
                  <a:srgbClr val="0099FF"/>
                </a:solidFill>
              </a:defRPr>
            </a:pPr>
            <a:r>
              <a:t>Lesson 09</a:t>
            </a:r>
          </a:p>
        </p:txBody>
      </p:sp>
      <p:sp>
        <p:nvSpPr>
          <p:cNvPr id="5" name="TextBox 4"/>
          <p:cNvSpPr txBox="1"/>
          <p:nvPr/>
        </p:nvSpPr>
        <p:spPr>
          <a:xfrm>
            <a:off x="731520" y="1463040"/>
            <a:ext cx="10058400" cy="1371600"/>
          </a:xfrm>
          <a:prstGeom prst="rect">
            <a:avLst/>
          </a:prstGeom>
          <a:noFill/>
        </p:spPr>
        <p:txBody>
          <a:bodyPr wrap="square">
            <a:spAutoFit/>
          </a:bodyPr>
          <a:lstStyle/>
          <a:p>
            <a:pPr>
              <a:defRPr sz="4000" b="1">
                <a:solidFill>
                  <a:srgbClr val="FFFFFF"/>
                </a:solidFill>
              </a:defRPr>
            </a:pPr>
            <a:r>
              <a:t>Azure Integration: NSG, Load Balancer &amp; Networking</a:t>
            </a:r>
          </a:p>
        </p:txBody>
      </p:sp>
      <p:sp>
        <p:nvSpPr>
          <p:cNvPr id="6" name="TextBox 5"/>
          <p:cNvSpPr txBox="1"/>
          <p:nvPr/>
        </p:nvSpPr>
        <p:spPr>
          <a:xfrm>
            <a:off x="731520" y="3200400"/>
            <a:ext cx="10058400" cy="1828800"/>
          </a:xfrm>
          <a:prstGeom prst="rect">
            <a:avLst/>
          </a:prstGeom>
          <a:noFill/>
        </p:spPr>
        <p:txBody>
          <a:bodyPr wrap="square">
            <a:spAutoFit/>
          </a:bodyPr>
          <a:lstStyle/>
          <a:p>
            <a:pPr>
              <a:defRPr sz="2000">
                <a:solidFill>
                  <a:srgbClr val="C8DCF0"/>
                </a:solidFill>
              </a:defRPr>
            </a:pPr>
            <a:r>
              <a:t>How AKS interacts with Azure infrastructure</a:t>
            </a:r>
          </a:p>
        </p:txBody>
      </p:sp>
      <p:sp>
        <p:nvSpPr>
          <p:cNvPr id="7" name="TextBox 6"/>
          <p:cNvSpPr txBox="1"/>
          <p:nvPr/>
        </p:nvSpPr>
        <p:spPr>
          <a:xfrm>
            <a:off x="731520" y="5943600"/>
            <a:ext cx="10058400" cy="457200"/>
          </a:xfrm>
          <a:prstGeom prst="rect">
            <a:avLst/>
          </a:prstGeom>
          <a:noFill/>
        </p:spPr>
        <p:txBody>
          <a:bodyPr wrap="none">
            <a:spAutoFit/>
          </a:bodyPr>
          <a:lstStyle/>
          <a:p>
            <a:pPr>
              <a:defRPr sz="1200">
                <a:solidFill>
                  <a:srgbClr val="96BEE6"/>
                </a:solidFill>
              </a:defRPr>
            </a:pPr>
            <a:r>
              <a:t>AKS Troubleshooting Course | Azure Kubernetes Service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371600"/>
          </a:xfrm>
          <a:prstGeom prst="rect">
            <a:avLst/>
          </a:prstGeom>
          <a:noFill/>
        </p:spPr>
        <p:txBody>
          <a:bodyPr wrap="square">
            <a:spAutoFit/>
          </a:bodyPr>
          <a:lstStyle/>
          <a:p>
            <a:pPr>
              <a:defRPr sz="3600" b="1">
                <a:solidFill>
                  <a:srgbClr val="FFFFFF"/>
                </a:solidFill>
              </a:defRPr>
            </a:pPr>
            <a:r>
              <a:t>AKS Azure Architecture</a:t>
            </a:r>
          </a:p>
        </p:txBody>
      </p:sp>
      <p:sp>
        <p:nvSpPr>
          <p:cNvPr id="4" name="TextBox 3"/>
          <p:cNvSpPr txBox="1"/>
          <p:nvPr/>
        </p:nvSpPr>
        <p:spPr>
          <a:xfrm>
            <a:off x="914400" y="3840480"/>
            <a:ext cx="10058400" cy="914400"/>
          </a:xfrm>
          <a:prstGeom prst="rect">
            <a:avLst/>
          </a:prstGeom>
          <a:noFill/>
        </p:spPr>
        <p:txBody>
          <a:bodyPr wrap="square">
            <a:spAutoFit/>
          </a:bodyPr>
          <a:lstStyle/>
          <a:p>
            <a:pPr>
              <a:defRPr sz="1800">
                <a:solidFill>
                  <a:srgbClr val="0099FF"/>
                </a:solidFill>
              </a:defRPr>
            </a:pPr>
            <a:r>
              <a:t>The MC_ resource group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square">
            <a:spAutoFit/>
          </a:bodyPr>
          <a:lstStyle/>
          <a:p>
            <a:pPr>
              <a:defRPr sz="2800" b="1">
                <a:solidFill>
                  <a:srgbClr val="FFFFFF"/>
                </a:solidFill>
              </a:defRPr>
            </a:pPr>
            <a:r>
              <a:t>MC_ Resource Group Contents</a:t>
            </a:r>
          </a:p>
        </p:txBody>
      </p:sp>
      <p:sp>
        <p:nvSpPr>
          <p:cNvPr id="5" name="TextBox 4"/>
          <p:cNvSpPr txBox="1"/>
          <p:nvPr/>
        </p:nvSpPr>
        <p:spPr>
          <a:xfrm>
            <a:off x="731520" y="1280160"/>
            <a:ext cx="10515600" cy="4846320"/>
          </a:xfrm>
          <a:prstGeom prst="rect">
            <a:avLst/>
          </a:prstGeom>
          <a:noFill/>
        </p:spPr>
        <p:txBody>
          <a:bodyPr wrap="square">
            <a:spAutoFit/>
          </a:bodyPr>
          <a:lstStyle/>
          <a:p>
            <a:pPr>
              <a:spcAft>
                <a:spcPts val="600"/>
              </a:spcAft>
              <a:defRPr sz="1800">
                <a:solidFill>
                  <a:srgbClr val="212121"/>
                </a:solidFill>
              </a:defRPr>
            </a:pPr>
            <a:r>
              <a:t>VMSS (Virtual Machine Scale Sets) – the nodes</a:t>
            </a:r>
          </a:p>
          <a:p>
            <a:pPr>
              <a:spcAft>
                <a:spcPts val="600"/>
              </a:spcAft>
              <a:defRPr sz="1800">
                <a:solidFill>
                  <a:srgbClr val="212121"/>
                </a:solidFill>
              </a:defRPr>
            </a:pPr>
            <a:r>
              <a:t>VNet + Subnets – cluster network</a:t>
            </a:r>
          </a:p>
          <a:p>
            <a:pPr>
              <a:spcAft>
                <a:spcPts val="600"/>
              </a:spcAft>
              <a:defRPr sz="1800">
                <a:solidFill>
                  <a:srgbClr val="212121"/>
                </a:solidFill>
              </a:defRPr>
            </a:pPr>
            <a:r>
              <a:t>NSG (Network Security Group) – firewall rules</a:t>
            </a:r>
          </a:p>
          <a:p>
            <a:pPr>
              <a:spcAft>
                <a:spcPts val="600"/>
              </a:spcAft>
              <a:defRPr sz="1800">
                <a:solidFill>
                  <a:srgbClr val="212121"/>
                </a:solidFill>
              </a:defRPr>
            </a:pPr>
            <a:r>
              <a:t>Load Balancer – for LoadBalancer Services</a:t>
            </a:r>
          </a:p>
          <a:p>
            <a:pPr>
              <a:spcAft>
                <a:spcPts val="600"/>
              </a:spcAft>
              <a:defRPr sz="1800">
                <a:solidFill>
                  <a:srgbClr val="212121"/>
                </a:solidFill>
              </a:defRPr>
            </a:pPr>
            <a:r>
              <a:t>Public IPs – external addresses</a:t>
            </a:r>
          </a:p>
          <a:p>
            <a:pPr>
              <a:spcAft>
                <a:spcPts val="600"/>
              </a:spcAft>
              <a:defRPr sz="1800">
                <a:solidFill>
                  <a:srgbClr val="212121"/>
                </a:solidFill>
              </a:defRPr>
            </a:pPr>
            <a:r>
              <a:t>Route Table – network routing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Find the MC_ Resource Group</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 Get the managed resource group name</a:t>
            </a:r>
          </a:p>
          <a:p>
            <a:pPr>
              <a:spcAft>
                <a:spcPts val="200"/>
              </a:spcAft>
              <a:defRPr sz="1400">
                <a:solidFill>
                  <a:srgbClr val="ABB2BF"/>
                </a:solidFill>
                <a:latin typeface="Consolas"/>
              </a:defRPr>
            </a:pPr>
            <a:r>
              <a:t>az aks show -g &lt;rg&gt; -n &lt;cluster&gt; \</a:t>
            </a:r>
          </a:p>
          <a:p>
            <a:pPr>
              <a:spcAft>
                <a:spcPts val="200"/>
              </a:spcAft>
              <a:defRPr sz="1400">
                <a:solidFill>
                  <a:srgbClr val="ABB2BF"/>
                </a:solidFill>
                <a:latin typeface="Consolas"/>
              </a:defRPr>
            </a:pPr>
            <a:r>
              <a:t>  --query nodeResourceGroup -o tsv</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List all resources in it</a:t>
            </a:r>
          </a:p>
          <a:p>
            <a:pPr>
              <a:spcAft>
                <a:spcPts val="200"/>
              </a:spcAft>
              <a:defRPr sz="1400">
                <a:solidFill>
                  <a:srgbClr val="ABB2BF"/>
                </a:solidFill>
                <a:latin typeface="Consolas"/>
              </a:defRPr>
            </a:pPr>
            <a:r>
              <a:t>az resource list -g MC_&lt;rg&gt;_&lt;cluster&gt;_&lt;region&gt; -o table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86000"/>
            <a:ext cx="10058400" cy="1371600"/>
          </a:xfrm>
          <a:prstGeom prst="rect">
            <a:avLst/>
          </a:prstGeom>
          <a:noFill/>
        </p:spPr>
        <p:txBody>
          <a:bodyPr wrap="square">
            <a:spAutoFit/>
          </a:bodyPr>
          <a:lstStyle/>
          <a:p>
            <a:pPr>
              <a:defRPr sz="3600" b="1">
                <a:solidFill>
                  <a:srgbClr val="FFFFFF"/>
                </a:solidFill>
              </a:defRPr>
            </a:pPr>
            <a:r>
              <a:t>Network Security Groups (NSG)</a:t>
            </a:r>
          </a:p>
        </p:txBody>
      </p:sp>
      <p:sp>
        <p:nvSpPr>
          <p:cNvPr id="4" name="TextBox 3"/>
          <p:cNvSpPr txBox="1"/>
          <p:nvPr/>
        </p:nvSpPr>
        <p:spPr>
          <a:xfrm>
            <a:off x="914400" y="3840480"/>
            <a:ext cx="10058400" cy="914400"/>
          </a:xfrm>
          <a:prstGeom prst="rect">
            <a:avLst/>
          </a:prstGeom>
          <a:noFill/>
        </p:spPr>
        <p:txBody>
          <a:bodyPr wrap="square">
            <a:spAutoFit/>
          </a:bodyPr>
          <a:lstStyle/>
          <a:p>
            <a:pPr>
              <a:defRPr sz="1800">
                <a:solidFill>
                  <a:srgbClr val="0099FF"/>
                </a:solidFill>
              </a:defRPr>
            </a:pPr>
            <a:r>
              <a:t>Azure-level firewalls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square">
            <a:spAutoFit/>
          </a:bodyPr>
          <a:lstStyle/>
          <a:p>
            <a:pPr>
              <a:defRPr sz="2800" b="1">
                <a:solidFill>
                  <a:srgbClr val="FFFFFF"/>
                </a:solidFill>
              </a:defRPr>
            </a:pPr>
            <a:r>
              <a:t>NSG Priority Rules</a:t>
            </a:r>
          </a:p>
        </p:txBody>
      </p:sp>
      <p:sp>
        <p:nvSpPr>
          <p:cNvPr id="5" name="TextBox 4"/>
          <p:cNvSpPr txBox="1"/>
          <p:nvPr/>
        </p:nvSpPr>
        <p:spPr>
          <a:xfrm>
            <a:off x="731520" y="1280160"/>
            <a:ext cx="10515600" cy="4846320"/>
          </a:xfrm>
          <a:prstGeom prst="rect">
            <a:avLst/>
          </a:prstGeom>
          <a:noFill/>
        </p:spPr>
        <p:txBody>
          <a:bodyPr wrap="square">
            <a:spAutoFit/>
          </a:bodyPr>
          <a:lstStyle/>
          <a:p>
            <a:pPr>
              <a:spcAft>
                <a:spcPts val="600"/>
              </a:spcAft>
              <a:defRPr sz="1800">
                <a:solidFill>
                  <a:srgbClr val="212121"/>
                </a:solidFill>
              </a:defRPr>
            </a:pPr>
            <a:r>
              <a:t>Rules evaluated by priority (lowest number = highest priority)</a:t>
            </a:r>
          </a:p>
          <a:p>
            <a:pPr>
              <a:spcAft>
                <a:spcPts val="600"/>
              </a:spcAft>
              <a:defRPr sz="1800">
                <a:solidFill>
                  <a:srgbClr val="212121"/>
                </a:solidFill>
              </a:defRPr>
            </a:pPr>
            <a:r>
              <a:t>A Deny at priority 100 overrides Allow at priority 200</a:t>
            </a:r>
          </a:p>
          <a:p>
            <a:pPr>
              <a:spcAft>
                <a:spcPts val="600"/>
              </a:spcAft>
              <a:defRPr sz="1800">
                <a:solidFill>
                  <a:srgbClr val="212121"/>
                </a:solidFill>
              </a:defRPr>
            </a:pPr>
            <a:r>
              <a:t>AKS creates rules automatically for LB Services</a:t>
            </a:r>
          </a:p>
          <a:p>
            <a:pPr>
              <a:spcAft>
                <a:spcPts val="600"/>
              </a:spcAft>
              <a:defRPr sz="1800">
                <a:solidFill>
                  <a:srgbClr val="212121"/>
                </a:solidFill>
              </a:defRPr>
            </a:pPr>
            <a:r>
              <a:t>Custom rules can accidentally block AKS traffic</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NSG Commands</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 List NSGs</a:t>
            </a:r>
          </a:p>
          <a:p>
            <a:pPr>
              <a:spcAft>
                <a:spcPts val="200"/>
              </a:spcAft>
              <a:defRPr sz="1400">
                <a:solidFill>
                  <a:srgbClr val="ABB2BF"/>
                </a:solidFill>
                <a:latin typeface="Consolas"/>
              </a:defRPr>
            </a:pPr>
            <a:r>
              <a:t>az network nsg list -g &lt;mc-rg&gt; -o table</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List rules</a:t>
            </a:r>
          </a:p>
          <a:p>
            <a:pPr>
              <a:spcAft>
                <a:spcPts val="200"/>
              </a:spcAft>
              <a:defRPr sz="1400">
                <a:solidFill>
                  <a:srgbClr val="ABB2BF"/>
                </a:solidFill>
                <a:latin typeface="Consolas"/>
              </a:defRPr>
            </a:pPr>
            <a:r>
              <a:t>az network nsg rule list --nsg-name &lt;nsg&gt; -g &lt;mc-rg&gt; -o table</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Find deny rules</a:t>
            </a:r>
          </a:p>
          <a:p>
            <a:pPr>
              <a:spcAft>
                <a:spcPts val="200"/>
              </a:spcAft>
              <a:defRPr sz="1400">
                <a:solidFill>
                  <a:srgbClr val="ABB2BF"/>
                </a:solidFill>
                <a:latin typeface="Consolas"/>
              </a:defRPr>
            </a:pPr>
            <a:r>
              <a:t>az network nsg rule list --nsg-name &lt;nsg&gt; -g &lt;mc-rg&gt; \</a:t>
            </a:r>
          </a:p>
          <a:p>
            <a:pPr>
              <a:spcAft>
                <a:spcPts val="200"/>
              </a:spcAft>
              <a:defRPr sz="1400">
                <a:solidFill>
                  <a:srgbClr val="ABB2BF"/>
                </a:solidFill>
                <a:latin typeface="Consolas"/>
              </a:defRPr>
            </a:pPr>
            <a:r>
              <a:t>  --query "[?access=='Deny']" -o table</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Delete a rule</a:t>
            </a:r>
          </a:p>
          <a:p>
            <a:pPr>
              <a:spcAft>
                <a:spcPts val="200"/>
              </a:spcAft>
              <a:defRPr sz="1400">
                <a:solidFill>
                  <a:srgbClr val="ABB2BF"/>
                </a:solidFill>
                <a:latin typeface="Consolas"/>
              </a:defRPr>
            </a:pPr>
            <a:r>
              <a:t>az network nsg rule delete --nsg-name &lt;nsg&gt; -g &lt;mc-rg&gt; -n &lt;rule&gt;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Common Issues</a:t>
            </a:r>
          </a:p>
        </p:txBody>
      </p:sp>
      <p:graphicFrame>
        <p:nvGraphicFramePr>
          <p:cNvPr id="5" name="Table 4"/>
          <p:cNvGraphicFramePr>
            <a:graphicFrameLocks noGrp="1"/>
          </p:cNvGraphicFramePr>
          <p:nvPr/>
        </p:nvGraphicFramePr>
        <p:xfrm>
          <a:off x="548640" y="1371600"/>
          <a:ext cx="10972800" cy="2286000"/>
        </p:xfrm>
        <a:graphic>
          <a:graphicData uri="http://schemas.openxmlformats.org/drawingml/2006/table">
            <a:tbl>
              <a:tblPr firstRow="1" bandRow="1">
                <a:tableStyleId>{5C22544A-7EE6-4342-B048-85BDC9FD1C3A}</a:tableStyleId>
              </a:tblPr>
              <a:tblGrid>
                <a:gridCol w="5486400"/>
                <a:gridCol w="5486400"/>
              </a:tblGrid>
              <a:tr h="457200">
                <a:tc>
                  <a:txBody>
                    <a:bodyPr/>
                    <a:lstStyle/>
                    <a:p>
                      <a:pPr>
                        <a:defRPr sz="1400" b="1">
                          <a:solidFill>
                            <a:srgbClr val="FFFFFF"/>
                          </a:solidFill>
                        </a:defRPr>
                      </a:pPr>
                      <a:r>
                        <a:t>Symptom</a:t>
                      </a:r>
                    </a:p>
                  </a:txBody>
                  <a:tcPr>
                    <a:solidFill>
                      <a:srgbClr val="0078D4"/>
                    </a:solidFill>
                  </a:tcPr>
                </a:tc>
                <a:tc>
                  <a:txBody>
                    <a:bodyPr/>
                    <a:lstStyle/>
                    <a:p>
                      <a:pPr>
                        <a:defRPr sz="1400" b="1">
                          <a:solidFill>
                            <a:srgbClr val="FFFFFF"/>
                          </a:solidFill>
                        </a:defRPr>
                      </a:pPr>
                      <a:r>
                        <a:t>Cause</a:t>
                      </a:r>
                    </a:p>
                  </a:txBody>
                  <a:tcPr>
                    <a:solidFill>
                      <a:srgbClr val="0078D4"/>
                    </a:solidFill>
                  </a:tcPr>
                </a:tc>
              </a:tr>
              <a:tr h="457200">
                <a:tc>
                  <a:txBody>
                    <a:bodyPr/>
                    <a:lstStyle/>
                    <a:p>
                      <a:pPr>
                        <a:defRPr sz="1300">
                          <a:solidFill>
                            <a:srgbClr val="212121"/>
                          </a:solidFill>
                        </a:defRPr>
                      </a:pPr>
                      <a:r>
                        <a:t>LB Service timeout</a:t>
                      </a:r>
                    </a:p>
                  </a:txBody>
                  <a:tcPr>
                    <a:solidFill>
                      <a:srgbClr val="FFFFFF"/>
                    </a:solidFill>
                  </a:tcPr>
                </a:tc>
                <a:tc>
                  <a:txBody>
                    <a:bodyPr/>
                    <a:lstStyle/>
                    <a:p>
                      <a:pPr>
                        <a:defRPr sz="1300">
                          <a:solidFill>
                            <a:srgbClr val="212121"/>
                          </a:solidFill>
                        </a:defRPr>
                      </a:pPr>
                      <a:r>
                        <a:t>NSG deny rule blocking port</a:t>
                      </a:r>
                    </a:p>
                  </a:txBody>
                  <a:tcPr>
                    <a:solidFill>
                      <a:srgbClr val="FFFFFF"/>
                    </a:solidFill>
                  </a:tcPr>
                </a:tc>
              </a:tr>
              <a:tr h="457200">
                <a:tc>
                  <a:txBody>
                    <a:bodyPr/>
                    <a:lstStyle/>
                    <a:p>
                      <a:pPr>
                        <a:defRPr sz="1300">
                          <a:solidFill>
                            <a:srgbClr val="212121"/>
                          </a:solidFill>
                        </a:defRPr>
                      </a:pPr>
                      <a:r>
                        <a:t>Service no External-IP</a:t>
                      </a:r>
                    </a:p>
                  </a:txBody>
                  <a:tcPr>
                    <a:solidFill>
                      <a:srgbClr val="F0F5FA"/>
                    </a:solidFill>
                  </a:tcPr>
                </a:tc>
                <a:tc>
                  <a:txBody>
                    <a:bodyPr/>
                    <a:lstStyle/>
                    <a:p>
                      <a:pPr>
                        <a:defRPr sz="1300">
                          <a:solidFill>
                            <a:srgbClr val="212121"/>
                          </a:solidFill>
                        </a:defRPr>
                      </a:pPr>
                      <a:r>
                        <a:t>Public IP quota exceeded</a:t>
                      </a:r>
                    </a:p>
                  </a:txBody>
                  <a:tcPr>
                    <a:solidFill>
                      <a:srgbClr val="F0F5FA"/>
                    </a:solidFill>
                  </a:tcPr>
                </a:tc>
              </a:tr>
              <a:tr h="457200">
                <a:tc>
                  <a:txBody>
                    <a:bodyPr/>
                    <a:lstStyle/>
                    <a:p>
                      <a:pPr>
                        <a:defRPr sz="1300">
                          <a:solidFill>
                            <a:srgbClr val="212121"/>
                          </a:solidFill>
                        </a:defRPr>
                      </a:pPr>
                      <a:r>
                        <a:t>Intermittent failures</a:t>
                      </a:r>
                    </a:p>
                  </a:txBody>
                  <a:tcPr>
                    <a:solidFill>
                      <a:srgbClr val="FFFFFF"/>
                    </a:solidFill>
                  </a:tcPr>
                </a:tc>
                <a:tc>
                  <a:txBody>
                    <a:bodyPr/>
                    <a:lstStyle/>
                    <a:p>
                      <a:pPr>
                        <a:defRPr sz="1300">
                          <a:solidFill>
                            <a:srgbClr val="212121"/>
                          </a:solidFill>
                        </a:defRPr>
                      </a:pPr>
                      <a:r>
                        <a:t>LB health probe failing</a:t>
                      </a:r>
                    </a:p>
                  </a:txBody>
                  <a:tcPr>
                    <a:solidFill>
                      <a:srgbClr val="FFFFFF"/>
                    </a:solidFill>
                  </a:tcPr>
                </a:tc>
              </a:tr>
              <a:tr h="457200">
                <a:tc>
                  <a:txBody>
                    <a:bodyPr/>
                    <a:lstStyle/>
                    <a:p>
                      <a:pPr>
                        <a:defRPr sz="1300">
                          <a:solidFill>
                            <a:srgbClr val="212121"/>
                          </a:solidFill>
                        </a:defRPr>
                      </a:pPr>
                      <a:r>
                        <a:t>Can't pull images</a:t>
                      </a:r>
                    </a:p>
                  </a:txBody>
                  <a:tcPr>
                    <a:solidFill>
                      <a:srgbClr val="F0F5FA"/>
                    </a:solidFill>
                  </a:tcPr>
                </a:tc>
                <a:tc>
                  <a:txBody>
                    <a:bodyPr/>
                    <a:lstStyle/>
                    <a:p>
                      <a:pPr>
                        <a:defRPr sz="1300">
                          <a:solidFill>
                            <a:srgbClr val="212121"/>
                          </a:solidFill>
                        </a:defRPr>
                      </a:pPr>
                      <a:r>
                        <a:t>NSG blocking outbound 443</a:t>
                      </a:r>
                    </a:p>
                  </a:txBody>
                  <a:tcPr>
                    <a:solidFill>
                      <a:srgbClr val="F0F5FA"/>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1005840"/>
          </a:xfrm>
          <a:prstGeom prst="rect">
            <a:avLst/>
          </a:prstGeom>
          <a:solidFill>
            <a:srgbClr val="0078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6446520"/>
            <a:ext cx="12188952" cy="411480"/>
          </a:xfrm>
          <a:prstGeom prst="rect">
            <a:avLst/>
          </a:prstGeom>
          <a:solidFill>
            <a:srgbClr val="004E8C"/>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r">
              <a:defRPr sz="1000">
                <a:solidFill>
                  <a:srgbClr val="FFFFFF"/>
                </a:solidFill>
              </a:defRPr>
            </a:pPr>
            <a:r>
              <a:t>AKS Troubleshooting Course</a:t>
            </a:r>
          </a:p>
        </p:txBody>
      </p:sp>
      <p:sp>
        <p:nvSpPr>
          <p:cNvPr id="4" name="TextBox 3"/>
          <p:cNvSpPr txBox="1"/>
          <p:nvPr/>
        </p:nvSpPr>
        <p:spPr>
          <a:xfrm>
            <a:off x="548640" y="137160"/>
            <a:ext cx="10972800" cy="822960"/>
          </a:xfrm>
          <a:prstGeom prst="rect">
            <a:avLst/>
          </a:prstGeom>
          <a:noFill/>
        </p:spPr>
        <p:txBody>
          <a:bodyPr wrap="none">
            <a:spAutoFit/>
          </a:bodyPr>
          <a:lstStyle/>
          <a:p>
            <a:pPr>
              <a:defRPr sz="2800" b="1">
                <a:solidFill>
                  <a:srgbClr val="FFFFFF"/>
                </a:solidFill>
              </a:defRPr>
            </a:pPr>
            <a:r>
              <a:t>Full Diagnosis Flow</a:t>
            </a:r>
          </a:p>
        </p:txBody>
      </p:sp>
      <p:sp>
        <p:nvSpPr>
          <p:cNvPr id="5" name="Rounded Rectangle 4"/>
          <p:cNvSpPr/>
          <p:nvPr/>
        </p:nvSpPr>
        <p:spPr>
          <a:xfrm>
            <a:off x="548640" y="1280160"/>
            <a:ext cx="10972800" cy="4754880"/>
          </a:xfrm>
          <a:prstGeom prst="roundRect">
            <a:avLst/>
          </a:prstGeom>
          <a:solidFill>
            <a:srgbClr val="282C34"/>
          </a:solidFill>
          <a:ln>
            <a:solidFill>
              <a:srgbClr val="3C3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1463040"/>
            <a:ext cx="10424160" cy="4480560"/>
          </a:xfrm>
          <a:prstGeom prst="rect">
            <a:avLst/>
          </a:prstGeom>
          <a:noFill/>
        </p:spPr>
        <p:txBody>
          <a:bodyPr wrap="square">
            <a:spAutoFit/>
          </a:bodyPr>
          <a:lstStyle/>
          <a:p>
            <a:pPr>
              <a:spcAft>
                <a:spcPts val="200"/>
              </a:spcAft>
              <a:defRPr sz="1400">
                <a:solidFill>
                  <a:srgbClr val="ABB2BF"/>
                </a:solidFill>
                <a:latin typeface="Consolas"/>
              </a:defRPr>
            </a:pPr>
            <a:r>
              <a:t>MC_RG=$(az aks show -g &lt;rg&gt; -n &lt;c&gt; --query nodeResourceGroup -o tsv)</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NSG rules</a:t>
            </a:r>
          </a:p>
          <a:p>
            <a:pPr>
              <a:spcAft>
                <a:spcPts val="200"/>
              </a:spcAft>
              <a:defRPr sz="1400">
                <a:solidFill>
                  <a:srgbClr val="ABB2BF"/>
                </a:solidFill>
                <a:latin typeface="Consolas"/>
              </a:defRPr>
            </a:pPr>
            <a:r>
              <a:t>az network nsg list -g $MC_RG -o table</a:t>
            </a:r>
          </a:p>
          <a:p>
            <a:pPr>
              <a:spcAft>
                <a:spcPts val="200"/>
              </a:spcAft>
              <a:defRPr sz="1400">
                <a:solidFill>
                  <a:srgbClr val="ABB2BF"/>
                </a:solidFill>
                <a:latin typeface="Consolas"/>
              </a:defRPr>
            </a:pPr>
            <a:r>
              <a:t>az network nsg rule list --nsg-name &lt;nsg&gt; -g $MC_RG -o table</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Load Balancer</a:t>
            </a:r>
          </a:p>
          <a:p>
            <a:pPr>
              <a:spcAft>
                <a:spcPts val="200"/>
              </a:spcAft>
              <a:defRPr sz="1400">
                <a:solidFill>
                  <a:srgbClr val="ABB2BF"/>
                </a:solidFill>
                <a:latin typeface="Consolas"/>
              </a:defRPr>
            </a:pPr>
            <a:r>
              <a:t>az network lb list -g $MC_RG -o table</a:t>
            </a:r>
          </a:p>
          <a:p>
            <a:pPr>
              <a:spcAft>
                <a:spcPts val="200"/>
              </a:spcAft>
              <a:defRPr sz="1400">
                <a:solidFill>
                  <a:srgbClr val="ABB2BF"/>
                </a:solidFill>
                <a:latin typeface="Consolas"/>
              </a:defRPr>
            </a:pPr>
          </a:p>
          <a:p>
            <a:pPr>
              <a:spcAft>
                <a:spcPts val="200"/>
              </a:spcAft>
              <a:defRPr sz="1400">
                <a:solidFill>
                  <a:srgbClr val="ABB2BF"/>
                </a:solidFill>
                <a:latin typeface="Consolas"/>
              </a:defRPr>
            </a:pPr>
            <a:r>
              <a:t># Public IPs</a:t>
            </a:r>
          </a:p>
          <a:p>
            <a:pPr>
              <a:spcAft>
                <a:spcPts val="200"/>
              </a:spcAft>
              <a:defRPr sz="1400">
                <a:solidFill>
                  <a:srgbClr val="ABB2BF"/>
                </a:solidFill>
                <a:latin typeface="Consolas"/>
              </a:defRPr>
            </a:pPr>
            <a:r>
              <a:t>az network public-ip list -g $MC_RG -o table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923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731520"/>
            <a:ext cx="1828800" cy="548640"/>
          </a:xfrm>
          <a:prstGeom prst="roundRect">
            <a:avLst/>
          </a:prstGeom>
          <a:solidFill>
            <a:srgbClr val="10893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2000" b="1">
                <a:solidFill>
                  <a:srgbClr val="FFFFFF"/>
                </a:solidFill>
              </a:defRPr>
            </a:pPr>
            <a:r>
              <a:t>Lab 09</a:t>
            </a:r>
          </a:p>
        </p:txBody>
      </p:sp>
      <p:sp>
        <p:nvSpPr>
          <p:cNvPr id="4" name="TextBox 3"/>
          <p:cNvSpPr txBox="1"/>
          <p:nvPr/>
        </p:nvSpPr>
        <p:spPr>
          <a:xfrm>
            <a:off x="731520" y="1645920"/>
            <a:ext cx="10058400" cy="914400"/>
          </a:xfrm>
          <a:prstGeom prst="rect">
            <a:avLst/>
          </a:prstGeom>
          <a:noFill/>
        </p:spPr>
        <p:txBody>
          <a:bodyPr wrap="square">
            <a:spAutoFit/>
          </a:bodyPr>
          <a:lstStyle/>
          <a:p>
            <a:pPr>
              <a:defRPr sz="3200" b="1">
                <a:solidFill>
                  <a:srgbClr val="FFFFFF"/>
                </a:solidFill>
              </a:defRPr>
            </a:pPr>
            <a:r>
              <a:t>NSG Blocking Traffic</a:t>
            </a:r>
          </a:p>
        </p:txBody>
      </p:sp>
      <p:sp>
        <p:nvSpPr>
          <p:cNvPr id="5" name="TextBox 4"/>
          <p:cNvSpPr txBox="1"/>
          <p:nvPr/>
        </p:nvSpPr>
        <p:spPr>
          <a:xfrm>
            <a:off x="731520" y="2560320"/>
            <a:ext cx="10058400" cy="2011680"/>
          </a:xfrm>
          <a:prstGeom prst="rect">
            <a:avLst/>
          </a:prstGeom>
          <a:noFill/>
        </p:spPr>
        <p:txBody>
          <a:bodyPr wrap="square">
            <a:spAutoFit/>
          </a:bodyPr>
          <a:lstStyle/>
          <a:p>
            <a:pPr>
              <a:defRPr sz="1600">
                <a:solidFill>
                  <a:srgbClr val="B4C8DC"/>
                </a:solidFill>
              </a:defRPr>
            </a:pPr>
            <a:r>
              <a:t>The web application's LoadBalancer Service has an external IP and the pods are healthy, but customers report the site times out. Everything looks correct inside Kubernetes. The problem is outside the cluster — a rogue NSG rule in Azure is silently dropping all HTTP traffic. Hunt it down.</a:t>
            </a:r>
          </a:p>
        </p:txBody>
      </p:sp>
      <p:sp>
        <p:nvSpPr>
          <p:cNvPr id="6" name="Rounded Rectangle 5"/>
          <p:cNvSpPr/>
          <p:nvPr/>
        </p:nvSpPr>
        <p:spPr>
          <a:xfrm>
            <a:off x="731520" y="4572000"/>
            <a:ext cx="10058400" cy="1280160"/>
          </a:xfrm>
          <a:prstGeom prst="roundRect">
            <a:avLst/>
          </a:prstGeom>
          <a:solidFill>
            <a:srgbClr val="282C34"/>
          </a:solidFill>
          <a:ln>
            <a:solidFill>
              <a:srgbClr val="10893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4709160"/>
            <a:ext cx="9601200" cy="1005840"/>
          </a:xfrm>
          <a:prstGeom prst="rect">
            <a:avLst/>
          </a:prstGeom>
          <a:noFill/>
        </p:spPr>
        <p:txBody>
          <a:bodyPr wrap="square">
            <a:spAutoFit/>
          </a:bodyPr>
          <a:lstStyle/>
          <a:p>
            <a:pPr>
              <a:defRPr sz="1400">
                <a:solidFill>
                  <a:srgbClr val="10893E"/>
                </a:solidFill>
                <a:latin typeface="Consolas"/>
              </a:defRPr>
            </a:pPr>
            <a:r>
              <a:t>$ curl -L https://raw.githubusercontent.com/FYHerrera/AKSTraining/main/curso/lecciones/09-azure-networking/lab-09.sh -o lab-09.sh ; chmod +x lab-09.sh ; ./lab-09.sh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