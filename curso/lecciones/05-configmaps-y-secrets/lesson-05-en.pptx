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88952" cy="54864"/>
          </a:xfrm>
          <a:prstGeom prst="rect">
            <a:avLst/>
          </a:prstGeom>
          <a:solidFill>
            <a:srgbClr val="00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058400" cy="914400"/>
          </a:xfrm>
          <a:prstGeom prst="rect">
            <a:avLst/>
          </a:prstGeom>
          <a:noFill/>
        </p:spPr>
        <p:txBody>
          <a:bodyPr wrap="none">
            <a:spAutoFit/>
          </a:bodyPr>
          <a:lstStyle/>
          <a:p>
            <a:pPr>
              <a:defRPr sz="2400" b="0">
                <a:solidFill>
                  <a:srgbClr val="0099FF"/>
                </a:solidFill>
              </a:defRPr>
            </a:pPr>
            <a:r>
              <a:t>Lesson 05</a:t>
            </a:r>
          </a:p>
        </p:txBody>
      </p:sp>
      <p:sp>
        <p:nvSpPr>
          <p:cNvPr id="5" name="TextBox 4"/>
          <p:cNvSpPr txBox="1"/>
          <p:nvPr/>
        </p:nvSpPr>
        <p:spPr>
          <a:xfrm>
            <a:off x="731520" y="1463040"/>
            <a:ext cx="10058400" cy="1371600"/>
          </a:xfrm>
          <a:prstGeom prst="rect">
            <a:avLst/>
          </a:prstGeom>
          <a:noFill/>
        </p:spPr>
        <p:txBody>
          <a:bodyPr wrap="square">
            <a:spAutoFit/>
          </a:bodyPr>
          <a:lstStyle/>
          <a:p>
            <a:pPr>
              <a:defRPr sz="4000" b="1">
                <a:solidFill>
                  <a:srgbClr val="FFFFFF"/>
                </a:solidFill>
              </a:defRPr>
            </a:pPr>
            <a:r>
              <a:t>ConfigMaps &amp; Secrets</a:t>
            </a:r>
          </a:p>
        </p:txBody>
      </p:sp>
      <p:sp>
        <p:nvSpPr>
          <p:cNvPr id="6" name="TextBox 5"/>
          <p:cNvSpPr txBox="1"/>
          <p:nvPr/>
        </p:nvSpPr>
        <p:spPr>
          <a:xfrm>
            <a:off x="731520" y="3200400"/>
            <a:ext cx="10058400" cy="1828800"/>
          </a:xfrm>
          <a:prstGeom prst="rect">
            <a:avLst/>
          </a:prstGeom>
          <a:noFill/>
        </p:spPr>
        <p:txBody>
          <a:bodyPr wrap="square">
            <a:spAutoFit/>
          </a:bodyPr>
          <a:lstStyle/>
          <a:p>
            <a:pPr>
              <a:defRPr sz="2000">
                <a:solidFill>
                  <a:srgbClr val="C8DCF0"/>
                </a:solidFill>
              </a:defRPr>
            </a:pPr>
            <a:r>
              <a:t>Externalize configuration and manage sensitive data</a:t>
            </a:r>
          </a:p>
        </p:txBody>
      </p:sp>
      <p:sp>
        <p:nvSpPr>
          <p:cNvPr id="7" name="TextBox 6"/>
          <p:cNvSpPr txBox="1"/>
          <p:nvPr/>
        </p:nvSpPr>
        <p:spPr>
          <a:xfrm>
            <a:off x="731520" y="5943600"/>
            <a:ext cx="10058400" cy="457200"/>
          </a:xfrm>
          <a:prstGeom prst="rect">
            <a:avLst/>
          </a:prstGeom>
          <a:noFill/>
        </p:spPr>
        <p:txBody>
          <a:bodyPr wrap="none">
            <a:spAutoFit/>
          </a:bodyPr>
          <a:lstStyle/>
          <a:p>
            <a:pPr>
              <a:defRPr sz="1200">
                <a:solidFill>
                  <a:srgbClr val="96BEE6"/>
                </a:solidFill>
              </a:defRPr>
            </a:pPr>
            <a:r>
              <a:t>AKS Troubleshooting Course | Azure Kubernetes Service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04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058400" cy="1371600"/>
          </a:xfrm>
          <a:prstGeom prst="rect">
            <a:avLst/>
          </a:prstGeom>
          <a:noFill/>
        </p:spPr>
        <p:txBody>
          <a:bodyPr wrap="square">
            <a:spAutoFit/>
          </a:bodyPr>
          <a:lstStyle/>
          <a:p>
            <a:pPr>
              <a:defRPr sz="3600" b="1">
                <a:solidFill>
                  <a:srgbClr val="FFFFFF"/>
                </a:solidFill>
              </a:defRPr>
            </a:pPr>
            <a:r>
              <a:t>Why ConfigMaps &amp; Secrets?</a:t>
            </a:r>
          </a:p>
        </p:txBody>
      </p:sp>
      <p:sp>
        <p:nvSpPr>
          <p:cNvPr id="4" name="TextBox 3"/>
          <p:cNvSpPr txBox="1"/>
          <p:nvPr/>
        </p:nvSpPr>
        <p:spPr>
          <a:xfrm>
            <a:off x="914400" y="3840480"/>
            <a:ext cx="10058400" cy="914400"/>
          </a:xfrm>
          <a:prstGeom prst="rect">
            <a:avLst/>
          </a:prstGeom>
          <a:noFill/>
        </p:spPr>
        <p:txBody>
          <a:bodyPr wrap="square">
            <a:spAutoFit/>
          </a:bodyPr>
          <a:lstStyle/>
          <a:p>
            <a:pPr>
              <a:defRPr sz="1800">
                <a:solidFill>
                  <a:srgbClr val="0099FF"/>
                </a:solidFill>
              </a:defRPr>
            </a:pPr>
            <a:r>
              <a:t>Never hardcode config in images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46520"/>
            <a:ext cx="12188952" cy="411480"/>
          </a:xfrm>
          <a:prstGeom prst="rect">
            <a:avLst/>
          </a:prstGeom>
          <a:solidFill>
            <a:srgbClr val="00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r">
              <a:defRPr sz="1000">
                <a:solidFill>
                  <a:srgbClr val="FFFFFF"/>
                </a:solidFill>
              </a:defRPr>
            </a:pPr>
            <a:r>
              <a:t>AKS Troubleshooting Course</a:t>
            </a:r>
          </a:p>
        </p:txBody>
      </p:sp>
      <p:sp>
        <p:nvSpPr>
          <p:cNvPr id="4" name="TextBox 3"/>
          <p:cNvSpPr txBox="1"/>
          <p:nvPr/>
        </p:nvSpPr>
        <p:spPr>
          <a:xfrm>
            <a:off x="548640" y="137160"/>
            <a:ext cx="10972800" cy="822960"/>
          </a:xfrm>
          <a:prstGeom prst="rect">
            <a:avLst/>
          </a:prstGeom>
          <a:noFill/>
        </p:spPr>
        <p:txBody>
          <a:bodyPr wrap="none">
            <a:spAutoFit/>
          </a:bodyPr>
          <a:lstStyle/>
          <a:p>
            <a:pPr>
              <a:defRPr sz="2800" b="1">
                <a:solidFill>
                  <a:srgbClr val="FFFFFF"/>
                </a:solidFill>
              </a:defRPr>
            </a:pPr>
            <a:r>
              <a:t>When to Use</a:t>
            </a:r>
          </a:p>
        </p:txBody>
      </p:sp>
      <p:graphicFrame>
        <p:nvGraphicFramePr>
          <p:cNvPr id="5" name="Table 4"/>
          <p:cNvGraphicFramePr>
            <a:graphicFrameLocks noGrp="1"/>
          </p:cNvGraphicFramePr>
          <p:nvPr/>
        </p:nvGraphicFramePr>
        <p:xfrm>
          <a:off x="548640" y="1371600"/>
          <a:ext cx="10972800" cy="1371600"/>
        </p:xfrm>
        <a:graphic>
          <a:graphicData uri="http://schemas.openxmlformats.org/drawingml/2006/table">
            <a:tbl>
              <a:tblPr firstRow="1" bandRow="1">
                <a:tableStyleId>{5C22544A-7EE6-4342-B048-85BDC9FD1C3A}</a:tableStyleId>
              </a:tblPr>
              <a:tblGrid>
                <a:gridCol w="5486400"/>
                <a:gridCol w="5486400"/>
              </a:tblGrid>
              <a:tr h="457200">
                <a:tc>
                  <a:txBody>
                    <a:bodyPr/>
                    <a:lstStyle/>
                    <a:p>
                      <a:pPr>
                        <a:defRPr sz="1400" b="1">
                          <a:solidFill>
                            <a:srgbClr val="FFFFFF"/>
                          </a:solidFill>
                        </a:defRPr>
                      </a:pPr>
                      <a:r>
                        <a:t>Data Type</a:t>
                      </a:r>
                    </a:p>
                  </a:txBody>
                  <a:tcPr>
                    <a:solidFill>
                      <a:srgbClr val="0078D4"/>
                    </a:solidFill>
                  </a:tcPr>
                </a:tc>
                <a:tc>
                  <a:txBody>
                    <a:bodyPr/>
                    <a:lstStyle/>
                    <a:p>
                      <a:pPr>
                        <a:defRPr sz="1400" b="1">
                          <a:solidFill>
                            <a:srgbClr val="FFFFFF"/>
                          </a:solidFill>
                        </a:defRPr>
                      </a:pPr>
                      <a:r>
                        <a:t>Resource</a:t>
                      </a:r>
                    </a:p>
                  </a:txBody>
                  <a:tcPr>
                    <a:solidFill>
                      <a:srgbClr val="0078D4"/>
                    </a:solidFill>
                  </a:tcPr>
                </a:tc>
              </a:tr>
              <a:tr h="457200">
                <a:tc>
                  <a:txBody>
                    <a:bodyPr/>
                    <a:lstStyle/>
                    <a:p>
                      <a:pPr>
                        <a:defRPr sz="1300">
                          <a:solidFill>
                            <a:srgbClr val="212121"/>
                          </a:solidFill>
                        </a:defRPr>
                      </a:pPr>
                      <a:r>
                        <a:t>URLs, feature flags, config</a:t>
                      </a:r>
                    </a:p>
                  </a:txBody>
                  <a:tcPr>
                    <a:solidFill>
                      <a:srgbClr val="FFFFFF"/>
                    </a:solidFill>
                  </a:tcPr>
                </a:tc>
                <a:tc>
                  <a:txBody>
                    <a:bodyPr/>
                    <a:lstStyle/>
                    <a:p>
                      <a:pPr>
                        <a:defRPr sz="1300">
                          <a:solidFill>
                            <a:srgbClr val="212121"/>
                          </a:solidFill>
                        </a:defRPr>
                      </a:pPr>
                      <a:r>
                        <a:t>ConfigMap</a:t>
                      </a:r>
                    </a:p>
                  </a:txBody>
                  <a:tcPr>
                    <a:solidFill>
                      <a:srgbClr val="FFFFFF"/>
                    </a:solidFill>
                  </a:tcPr>
                </a:tc>
              </a:tr>
              <a:tr h="457200">
                <a:tc>
                  <a:txBody>
                    <a:bodyPr/>
                    <a:lstStyle/>
                    <a:p>
                      <a:pPr>
                        <a:defRPr sz="1300">
                          <a:solidFill>
                            <a:srgbClr val="212121"/>
                          </a:solidFill>
                        </a:defRPr>
                      </a:pPr>
                      <a:r>
                        <a:t>Passwords, tokens, certs</a:t>
                      </a:r>
                    </a:p>
                  </a:txBody>
                  <a:tcPr>
                    <a:solidFill>
                      <a:srgbClr val="F0F5FA"/>
                    </a:solidFill>
                  </a:tcPr>
                </a:tc>
                <a:tc>
                  <a:txBody>
                    <a:bodyPr/>
                    <a:lstStyle/>
                    <a:p>
                      <a:pPr>
                        <a:defRPr sz="1300">
                          <a:solidFill>
                            <a:srgbClr val="212121"/>
                          </a:solidFill>
                        </a:defRPr>
                      </a:pPr>
                      <a:r>
                        <a:t>Secret</a:t>
                      </a:r>
                    </a:p>
                  </a:txBody>
                  <a:tcPr>
                    <a:solidFill>
                      <a:srgbClr val="F0F5FA"/>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46520"/>
            <a:ext cx="12188952" cy="411480"/>
          </a:xfrm>
          <a:prstGeom prst="rect">
            <a:avLst/>
          </a:prstGeom>
          <a:solidFill>
            <a:srgbClr val="00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r">
              <a:defRPr sz="1000">
                <a:solidFill>
                  <a:srgbClr val="FFFFFF"/>
                </a:solidFill>
              </a:defRPr>
            </a:pPr>
            <a:r>
              <a:t>AKS Troubleshooting Course</a:t>
            </a:r>
          </a:p>
        </p:txBody>
      </p:sp>
      <p:sp>
        <p:nvSpPr>
          <p:cNvPr id="4" name="TextBox 3"/>
          <p:cNvSpPr txBox="1"/>
          <p:nvPr/>
        </p:nvSpPr>
        <p:spPr>
          <a:xfrm>
            <a:off x="548640" y="137160"/>
            <a:ext cx="10972800" cy="822960"/>
          </a:xfrm>
          <a:prstGeom prst="rect">
            <a:avLst/>
          </a:prstGeom>
          <a:noFill/>
        </p:spPr>
        <p:txBody>
          <a:bodyPr wrap="none">
            <a:spAutoFit/>
          </a:bodyPr>
          <a:lstStyle/>
          <a:p>
            <a:pPr>
              <a:defRPr sz="2800" b="1">
                <a:solidFill>
                  <a:srgbClr val="FFFFFF"/>
                </a:solidFill>
              </a:defRPr>
            </a:pPr>
            <a:r>
              <a:t>Creating ConfigMaps</a:t>
            </a:r>
          </a:p>
        </p:txBody>
      </p:sp>
      <p:sp>
        <p:nvSpPr>
          <p:cNvPr id="5" name="Rounded Rectangle 4"/>
          <p:cNvSpPr/>
          <p:nvPr/>
        </p:nvSpPr>
        <p:spPr>
          <a:xfrm>
            <a:off x="548640" y="1280160"/>
            <a:ext cx="10972800" cy="4754880"/>
          </a:xfrm>
          <a:prstGeom prst="roundRect">
            <a:avLst/>
          </a:prstGeom>
          <a:solidFill>
            <a:srgbClr val="282C34"/>
          </a:solidFill>
          <a:ln>
            <a:solidFill>
              <a:srgbClr val="3C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10424160" cy="4480560"/>
          </a:xfrm>
          <a:prstGeom prst="rect">
            <a:avLst/>
          </a:prstGeom>
          <a:noFill/>
        </p:spPr>
        <p:txBody>
          <a:bodyPr wrap="square">
            <a:spAutoFit/>
          </a:bodyPr>
          <a:lstStyle/>
          <a:p>
            <a:pPr>
              <a:spcAft>
                <a:spcPts val="200"/>
              </a:spcAft>
              <a:defRPr sz="1400">
                <a:solidFill>
                  <a:srgbClr val="ABB2BF"/>
                </a:solidFill>
                <a:latin typeface="Consolas"/>
              </a:defRPr>
            </a:pPr>
            <a:r>
              <a:t># From literal</a:t>
            </a:r>
          </a:p>
          <a:p>
            <a:pPr>
              <a:spcAft>
                <a:spcPts val="200"/>
              </a:spcAft>
              <a:defRPr sz="1400">
                <a:solidFill>
                  <a:srgbClr val="ABB2BF"/>
                </a:solidFill>
                <a:latin typeface="Consolas"/>
              </a:defRPr>
            </a:pPr>
            <a:r>
              <a:t>kubectl create configmap app-config \</a:t>
            </a:r>
          </a:p>
          <a:p>
            <a:pPr>
              <a:spcAft>
                <a:spcPts val="200"/>
              </a:spcAft>
              <a:defRPr sz="1400">
                <a:solidFill>
                  <a:srgbClr val="ABB2BF"/>
                </a:solidFill>
                <a:latin typeface="Consolas"/>
              </a:defRPr>
            </a:pPr>
            <a:r>
              <a:t>  --from-literal=DATABASE_HOST=db.example.com \</a:t>
            </a:r>
          </a:p>
          <a:p>
            <a:pPr>
              <a:spcAft>
                <a:spcPts val="200"/>
              </a:spcAft>
              <a:defRPr sz="1400">
                <a:solidFill>
                  <a:srgbClr val="ABB2BF"/>
                </a:solidFill>
                <a:latin typeface="Consolas"/>
              </a:defRPr>
            </a:pPr>
            <a:r>
              <a:t>  --from-literal=LOG_LEVEL=info</a:t>
            </a:r>
          </a:p>
          <a:p>
            <a:pPr>
              <a:spcAft>
                <a:spcPts val="200"/>
              </a:spcAft>
              <a:defRPr sz="1400">
                <a:solidFill>
                  <a:srgbClr val="ABB2BF"/>
                </a:solidFill>
                <a:latin typeface="Consolas"/>
              </a:defRPr>
            </a:pPr>
          </a:p>
          <a:p>
            <a:pPr>
              <a:spcAft>
                <a:spcPts val="200"/>
              </a:spcAft>
              <a:defRPr sz="1400">
                <a:solidFill>
                  <a:srgbClr val="ABB2BF"/>
                </a:solidFill>
                <a:latin typeface="Consolas"/>
              </a:defRPr>
            </a:pPr>
            <a:r>
              <a:t># From file</a:t>
            </a:r>
          </a:p>
          <a:p>
            <a:pPr>
              <a:spcAft>
                <a:spcPts val="200"/>
              </a:spcAft>
              <a:defRPr sz="1400">
                <a:solidFill>
                  <a:srgbClr val="ABB2BF"/>
                </a:solidFill>
                <a:latin typeface="Consolas"/>
              </a:defRPr>
            </a:pPr>
            <a:r>
              <a:t>kubectl create configmap nginx-config --from-file=nginx.conf</a:t>
            </a:r>
          </a:p>
          <a:p>
            <a:pPr>
              <a:spcAft>
                <a:spcPts val="200"/>
              </a:spcAft>
              <a:defRPr sz="1400">
                <a:solidFill>
                  <a:srgbClr val="ABB2BF"/>
                </a:solidFill>
                <a:latin typeface="Consolas"/>
              </a:defRPr>
            </a:pPr>
          </a:p>
          <a:p>
            <a:pPr>
              <a:spcAft>
                <a:spcPts val="200"/>
              </a:spcAft>
              <a:defRPr sz="1400">
                <a:solidFill>
                  <a:srgbClr val="ABB2BF"/>
                </a:solidFill>
                <a:latin typeface="Consolas"/>
              </a:defRPr>
            </a:pPr>
            <a:r>
              <a:t># View contents</a:t>
            </a:r>
          </a:p>
          <a:p>
            <a:pPr>
              <a:spcAft>
                <a:spcPts val="200"/>
              </a:spcAft>
              <a:defRPr sz="1400">
                <a:solidFill>
                  <a:srgbClr val="ABB2BF"/>
                </a:solidFill>
                <a:latin typeface="Consolas"/>
              </a:defRPr>
            </a:pPr>
            <a:r>
              <a:t>kubectl describe configmap app-config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46520"/>
            <a:ext cx="12188952" cy="411480"/>
          </a:xfrm>
          <a:prstGeom prst="rect">
            <a:avLst/>
          </a:prstGeom>
          <a:solidFill>
            <a:srgbClr val="00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r">
              <a:defRPr sz="1000">
                <a:solidFill>
                  <a:srgbClr val="FFFFFF"/>
                </a:solidFill>
              </a:defRPr>
            </a:pPr>
            <a:r>
              <a:t>AKS Troubleshooting Course</a:t>
            </a:r>
          </a:p>
        </p:txBody>
      </p:sp>
      <p:sp>
        <p:nvSpPr>
          <p:cNvPr id="4" name="TextBox 3"/>
          <p:cNvSpPr txBox="1"/>
          <p:nvPr/>
        </p:nvSpPr>
        <p:spPr>
          <a:xfrm>
            <a:off x="548640" y="137160"/>
            <a:ext cx="10972800" cy="822960"/>
          </a:xfrm>
          <a:prstGeom prst="rect">
            <a:avLst/>
          </a:prstGeom>
          <a:noFill/>
        </p:spPr>
        <p:txBody>
          <a:bodyPr wrap="square">
            <a:spAutoFit/>
          </a:bodyPr>
          <a:lstStyle/>
          <a:p>
            <a:pPr>
              <a:defRPr sz="2800" b="1">
                <a:solidFill>
                  <a:srgbClr val="FFFFFF"/>
                </a:solidFill>
              </a:defRPr>
            </a:pPr>
            <a:r>
              <a:t>Using in Pods</a:t>
            </a:r>
          </a:p>
        </p:txBody>
      </p:sp>
      <p:sp>
        <p:nvSpPr>
          <p:cNvPr id="5" name="TextBox 4"/>
          <p:cNvSpPr txBox="1"/>
          <p:nvPr/>
        </p:nvSpPr>
        <p:spPr>
          <a:xfrm>
            <a:off x="731520" y="1280160"/>
            <a:ext cx="10515600" cy="4846320"/>
          </a:xfrm>
          <a:prstGeom prst="rect">
            <a:avLst/>
          </a:prstGeom>
          <a:noFill/>
        </p:spPr>
        <p:txBody>
          <a:bodyPr wrap="square">
            <a:spAutoFit/>
          </a:bodyPr>
          <a:lstStyle/>
          <a:p>
            <a:pPr>
              <a:spcAft>
                <a:spcPts val="600"/>
              </a:spcAft>
              <a:defRPr sz="1800">
                <a:solidFill>
                  <a:srgbClr val="212121"/>
                </a:solidFill>
              </a:defRPr>
            </a:pPr>
            <a:r>
              <a:t>As environment variables: env.valueFrom.configMapKeyRef</a:t>
            </a:r>
          </a:p>
          <a:p>
            <a:pPr>
              <a:spcAft>
                <a:spcPts val="600"/>
              </a:spcAft>
              <a:defRPr sz="1800">
                <a:solidFill>
                  <a:srgbClr val="212121"/>
                </a:solidFill>
              </a:defRPr>
            </a:pPr>
            <a:r>
              <a:t>As mounted files: volumes + volumeMounts</a:t>
            </a:r>
          </a:p>
          <a:p>
            <a:pPr>
              <a:spcAft>
                <a:spcPts val="600"/>
              </a:spcAft>
              <a:defRPr sz="1800">
                <a:solidFill>
                  <a:srgbClr val="212121"/>
                </a:solidFill>
              </a:defRPr>
            </a:pPr>
            <a:r>
              <a:t>envFrom loads ALL keys as env vars at once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46520"/>
            <a:ext cx="12188952" cy="411480"/>
          </a:xfrm>
          <a:prstGeom prst="rect">
            <a:avLst/>
          </a:prstGeom>
          <a:solidFill>
            <a:srgbClr val="00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r">
              <a:defRPr sz="1000">
                <a:solidFill>
                  <a:srgbClr val="FFFFFF"/>
                </a:solidFill>
              </a:defRPr>
            </a:pPr>
            <a:r>
              <a:t>AKS Troubleshooting Course</a:t>
            </a:r>
          </a:p>
        </p:txBody>
      </p:sp>
      <p:sp>
        <p:nvSpPr>
          <p:cNvPr id="4" name="TextBox 3"/>
          <p:cNvSpPr txBox="1"/>
          <p:nvPr/>
        </p:nvSpPr>
        <p:spPr>
          <a:xfrm>
            <a:off x="548640" y="137160"/>
            <a:ext cx="10972800" cy="822960"/>
          </a:xfrm>
          <a:prstGeom prst="rect">
            <a:avLst/>
          </a:prstGeom>
          <a:noFill/>
        </p:spPr>
        <p:txBody>
          <a:bodyPr wrap="none">
            <a:spAutoFit/>
          </a:bodyPr>
          <a:lstStyle/>
          <a:p>
            <a:pPr>
              <a:defRPr sz="2800" b="1">
                <a:solidFill>
                  <a:srgbClr val="FFFFFF"/>
                </a:solidFill>
              </a:defRPr>
            </a:pPr>
            <a:r>
              <a:t>Creating Secrets</a:t>
            </a:r>
          </a:p>
        </p:txBody>
      </p:sp>
      <p:sp>
        <p:nvSpPr>
          <p:cNvPr id="5" name="Rounded Rectangle 4"/>
          <p:cNvSpPr/>
          <p:nvPr/>
        </p:nvSpPr>
        <p:spPr>
          <a:xfrm>
            <a:off x="548640" y="1280160"/>
            <a:ext cx="10972800" cy="4754880"/>
          </a:xfrm>
          <a:prstGeom prst="roundRect">
            <a:avLst/>
          </a:prstGeom>
          <a:solidFill>
            <a:srgbClr val="282C34"/>
          </a:solidFill>
          <a:ln>
            <a:solidFill>
              <a:srgbClr val="3C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10424160" cy="4480560"/>
          </a:xfrm>
          <a:prstGeom prst="rect">
            <a:avLst/>
          </a:prstGeom>
          <a:noFill/>
        </p:spPr>
        <p:txBody>
          <a:bodyPr wrap="square">
            <a:spAutoFit/>
          </a:bodyPr>
          <a:lstStyle/>
          <a:p>
            <a:pPr>
              <a:spcAft>
                <a:spcPts val="200"/>
              </a:spcAft>
              <a:defRPr sz="1400">
                <a:solidFill>
                  <a:srgbClr val="ABB2BF"/>
                </a:solidFill>
                <a:latin typeface="Consolas"/>
              </a:defRPr>
            </a:pPr>
            <a:r>
              <a:t>kubectl create secret generic db-creds \</a:t>
            </a:r>
          </a:p>
          <a:p>
            <a:pPr>
              <a:spcAft>
                <a:spcPts val="200"/>
              </a:spcAft>
              <a:defRPr sz="1400">
                <a:solidFill>
                  <a:srgbClr val="ABB2BF"/>
                </a:solidFill>
                <a:latin typeface="Consolas"/>
              </a:defRPr>
            </a:pPr>
            <a:r>
              <a:t>  --from-literal=username=admin \</a:t>
            </a:r>
          </a:p>
          <a:p>
            <a:pPr>
              <a:spcAft>
                <a:spcPts val="200"/>
              </a:spcAft>
              <a:defRPr sz="1400">
                <a:solidFill>
                  <a:srgbClr val="ABB2BF"/>
                </a:solidFill>
                <a:latin typeface="Consolas"/>
              </a:defRPr>
            </a:pPr>
            <a:r>
              <a:t>  --from-literal=password=S3cureP@ss!</a:t>
            </a:r>
          </a:p>
          <a:p>
            <a:pPr>
              <a:spcAft>
                <a:spcPts val="200"/>
              </a:spcAft>
              <a:defRPr sz="1400">
                <a:solidFill>
                  <a:srgbClr val="ABB2BF"/>
                </a:solidFill>
                <a:latin typeface="Consolas"/>
              </a:defRPr>
            </a:pPr>
          </a:p>
          <a:p>
            <a:pPr>
              <a:spcAft>
                <a:spcPts val="200"/>
              </a:spcAft>
              <a:defRPr sz="1400">
                <a:solidFill>
                  <a:srgbClr val="ABB2BF"/>
                </a:solidFill>
                <a:latin typeface="Consolas"/>
              </a:defRPr>
            </a:pPr>
            <a:r>
              <a:t># Values stored in base64 (NOT encrypted!)</a:t>
            </a:r>
          </a:p>
          <a:p>
            <a:pPr>
              <a:spcAft>
                <a:spcPts val="200"/>
              </a:spcAft>
              <a:defRPr sz="1400">
                <a:solidFill>
                  <a:srgbClr val="ABB2BF"/>
                </a:solidFill>
                <a:latin typeface="Consolas"/>
              </a:defRPr>
            </a:pPr>
            <a:r>
              <a:t>kubectl get secret db-creds -o yaml</a:t>
            </a:r>
          </a:p>
          <a:p>
            <a:pPr>
              <a:spcAft>
                <a:spcPts val="200"/>
              </a:spcAft>
              <a:defRPr sz="1400">
                <a:solidFill>
                  <a:srgbClr val="ABB2BF"/>
                </a:solidFill>
                <a:latin typeface="Consolas"/>
              </a:defRPr>
            </a:pPr>
          </a:p>
          <a:p>
            <a:pPr>
              <a:spcAft>
                <a:spcPts val="200"/>
              </a:spcAft>
              <a:defRPr sz="1400">
                <a:solidFill>
                  <a:srgbClr val="ABB2BF"/>
                </a:solidFill>
                <a:latin typeface="Consolas"/>
              </a:defRPr>
            </a:pPr>
            <a:r>
              <a:t># Decode</a:t>
            </a:r>
          </a:p>
          <a:p>
            <a:pPr>
              <a:spcAft>
                <a:spcPts val="200"/>
              </a:spcAft>
              <a:defRPr sz="1400">
                <a:solidFill>
                  <a:srgbClr val="ABB2BF"/>
                </a:solidFill>
                <a:latin typeface="Consolas"/>
              </a:defRPr>
            </a:pPr>
            <a:r>
              <a:t>echo 'YWRtaW4=' | base64 --decode  # → admin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46520"/>
            <a:ext cx="12188952" cy="411480"/>
          </a:xfrm>
          <a:prstGeom prst="rect">
            <a:avLst/>
          </a:prstGeom>
          <a:solidFill>
            <a:srgbClr val="00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r">
              <a:defRPr sz="1000">
                <a:solidFill>
                  <a:srgbClr val="FFFFFF"/>
                </a:solidFill>
              </a:defRPr>
            </a:pPr>
            <a:r>
              <a:t>AKS Troubleshooting Course</a:t>
            </a:r>
          </a:p>
        </p:txBody>
      </p:sp>
      <p:sp>
        <p:nvSpPr>
          <p:cNvPr id="4" name="TextBox 3"/>
          <p:cNvSpPr txBox="1"/>
          <p:nvPr/>
        </p:nvSpPr>
        <p:spPr>
          <a:xfrm>
            <a:off x="548640" y="137160"/>
            <a:ext cx="10972800" cy="822960"/>
          </a:xfrm>
          <a:prstGeom prst="rect">
            <a:avLst/>
          </a:prstGeom>
          <a:noFill/>
        </p:spPr>
        <p:txBody>
          <a:bodyPr wrap="none">
            <a:spAutoFit/>
          </a:bodyPr>
          <a:lstStyle/>
          <a:p>
            <a:pPr>
              <a:defRPr sz="2800" b="1">
                <a:solidFill>
                  <a:srgbClr val="FFFFFF"/>
                </a:solidFill>
              </a:defRPr>
            </a:pPr>
            <a:r>
              <a:t>Common Errors</a:t>
            </a:r>
          </a:p>
        </p:txBody>
      </p:sp>
      <p:graphicFrame>
        <p:nvGraphicFramePr>
          <p:cNvPr id="5" name="Table 4"/>
          <p:cNvGraphicFramePr>
            <a:graphicFrameLocks noGrp="1"/>
          </p:cNvGraphicFramePr>
          <p:nvPr/>
        </p:nvGraphicFramePr>
        <p:xfrm>
          <a:off x="548640" y="1371600"/>
          <a:ext cx="10972800" cy="1828800"/>
        </p:xfrm>
        <a:graphic>
          <a:graphicData uri="http://schemas.openxmlformats.org/drawingml/2006/table">
            <a:tbl>
              <a:tblPr firstRow="1" bandRow="1">
                <a:tableStyleId>{5C22544A-7EE6-4342-B048-85BDC9FD1C3A}</a:tableStyleId>
              </a:tblPr>
              <a:tblGrid>
                <a:gridCol w="5486400"/>
                <a:gridCol w="5486400"/>
              </a:tblGrid>
              <a:tr h="457200">
                <a:tc>
                  <a:txBody>
                    <a:bodyPr/>
                    <a:lstStyle/>
                    <a:p>
                      <a:pPr>
                        <a:defRPr sz="1400" b="1">
                          <a:solidFill>
                            <a:srgbClr val="FFFFFF"/>
                          </a:solidFill>
                        </a:defRPr>
                      </a:pPr>
                      <a:r>
                        <a:t>Error</a:t>
                      </a:r>
                    </a:p>
                  </a:txBody>
                  <a:tcPr>
                    <a:solidFill>
                      <a:srgbClr val="0078D4"/>
                    </a:solidFill>
                  </a:tcPr>
                </a:tc>
                <a:tc>
                  <a:txBody>
                    <a:bodyPr/>
                    <a:lstStyle/>
                    <a:p>
                      <a:pPr>
                        <a:defRPr sz="1400" b="1">
                          <a:solidFill>
                            <a:srgbClr val="FFFFFF"/>
                          </a:solidFill>
                        </a:defRPr>
                      </a:pPr>
                      <a:r>
                        <a:t>Cause</a:t>
                      </a:r>
                    </a:p>
                  </a:txBody>
                  <a:tcPr>
                    <a:solidFill>
                      <a:srgbClr val="0078D4"/>
                    </a:solidFill>
                  </a:tcPr>
                </a:tc>
              </a:tr>
              <a:tr h="457200">
                <a:tc>
                  <a:txBody>
                    <a:bodyPr/>
                    <a:lstStyle/>
                    <a:p>
                      <a:pPr>
                        <a:defRPr sz="1300">
                          <a:solidFill>
                            <a:srgbClr val="212121"/>
                          </a:solidFill>
                        </a:defRPr>
                      </a:pPr>
                      <a:r>
                        <a:t>CreateContainerConfigError</a:t>
                      </a:r>
                    </a:p>
                  </a:txBody>
                  <a:tcPr>
                    <a:solidFill>
                      <a:srgbClr val="FFFFFF"/>
                    </a:solidFill>
                  </a:tcPr>
                </a:tc>
                <a:tc>
                  <a:txBody>
                    <a:bodyPr/>
                    <a:lstStyle/>
                    <a:p>
                      <a:pPr>
                        <a:defRPr sz="1300">
                          <a:solidFill>
                            <a:srgbClr val="212121"/>
                          </a:solidFill>
                        </a:defRPr>
                      </a:pPr>
                      <a:r>
                        <a:t>ConfigMap or Secret doesn't exist</a:t>
                      </a:r>
                    </a:p>
                  </a:txBody>
                  <a:tcPr>
                    <a:solidFill>
                      <a:srgbClr val="FFFFFF"/>
                    </a:solidFill>
                  </a:tcPr>
                </a:tc>
              </a:tr>
              <a:tr h="457200">
                <a:tc>
                  <a:txBody>
                    <a:bodyPr/>
                    <a:lstStyle/>
                    <a:p>
                      <a:pPr>
                        <a:defRPr sz="1300">
                          <a:solidFill>
                            <a:srgbClr val="212121"/>
                          </a:solidFill>
                        </a:defRPr>
                      </a:pPr>
                      <a:r>
                        <a:t>Pod won't start</a:t>
                      </a:r>
                    </a:p>
                  </a:txBody>
                  <a:tcPr>
                    <a:solidFill>
                      <a:srgbClr val="F0F5FA"/>
                    </a:solidFill>
                  </a:tcPr>
                </a:tc>
                <a:tc>
                  <a:txBody>
                    <a:bodyPr/>
                    <a:lstStyle/>
                    <a:p>
                      <a:pPr>
                        <a:defRPr sz="1300">
                          <a:solidFill>
                            <a:srgbClr val="212121"/>
                          </a:solidFill>
                        </a:defRPr>
                      </a:pPr>
                      <a:r>
                        <a:t>Referenced key doesn't exist in ConfigMap</a:t>
                      </a:r>
                    </a:p>
                  </a:txBody>
                  <a:tcPr>
                    <a:solidFill>
                      <a:srgbClr val="F0F5FA"/>
                    </a:solidFill>
                  </a:tcPr>
                </a:tc>
              </a:tr>
              <a:tr h="457200">
                <a:tc>
                  <a:txBody>
                    <a:bodyPr/>
                    <a:lstStyle/>
                    <a:p>
                      <a:pPr>
                        <a:defRPr sz="1300">
                          <a:solidFill>
                            <a:srgbClr val="212121"/>
                          </a:solidFill>
                        </a:defRPr>
                      </a:pPr>
                      <a:r>
                        <a:t>Empty env var</a:t>
                      </a:r>
                    </a:p>
                  </a:txBody>
                  <a:tcPr>
                    <a:solidFill>
                      <a:srgbClr val="FFFFFF"/>
                    </a:solidFill>
                  </a:tcPr>
                </a:tc>
                <a:tc>
                  <a:txBody>
                    <a:bodyPr/>
                    <a:lstStyle/>
                    <a:p>
                      <a:pPr>
                        <a:defRPr sz="1300">
                          <a:solidFill>
                            <a:srgbClr val="212121"/>
                          </a:solidFill>
                        </a:defRPr>
                      </a:pPr>
                      <a:r>
                        <a:t>Wrong key name or optional: true</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46520"/>
            <a:ext cx="12188952" cy="411480"/>
          </a:xfrm>
          <a:prstGeom prst="rect">
            <a:avLst/>
          </a:prstGeom>
          <a:solidFill>
            <a:srgbClr val="00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r">
              <a:defRPr sz="1000">
                <a:solidFill>
                  <a:srgbClr val="FFFFFF"/>
                </a:solidFill>
              </a:defRPr>
            </a:pPr>
            <a:r>
              <a:t>AKS Troubleshooting Course</a:t>
            </a:r>
          </a:p>
        </p:txBody>
      </p:sp>
      <p:sp>
        <p:nvSpPr>
          <p:cNvPr id="4" name="TextBox 3"/>
          <p:cNvSpPr txBox="1"/>
          <p:nvPr/>
        </p:nvSpPr>
        <p:spPr>
          <a:xfrm>
            <a:off x="548640" y="137160"/>
            <a:ext cx="10972800" cy="822960"/>
          </a:xfrm>
          <a:prstGeom prst="rect">
            <a:avLst/>
          </a:prstGeom>
          <a:noFill/>
        </p:spPr>
        <p:txBody>
          <a:bodyPr wrap="none">
            <a:spAutoFit/>
          </a:bodyPr>
          <a:lstStyle/>
          <a:p>
            <a:pPr>
              <a:defRPr sz="2800" b="1">
                <a:solidFill>
                  <a:srgbClr val="FFFFFF"/>
                </a:solidFill>
              </a:defRPr>
            </a:pPr>
            <a:r>
              <a:t>Diagnosis</a:t>
            </a:r>
          </a:p>
        </p:txBody>
      </p:sp>
      <p:sp>
        <p:nvSpPr>
          <p:cNvPr id="5" name="Rounded Rectangle 4"/>
          <p:cNvSpPr/>
          <p:nvPr/>
        </p:nvSpPr>
        <p:spPr>
          <a:xfrm>
            <a:off x="548640" y="1280160"/>
            <a:ext cx="10972800" cy="4754880"/>
          </a:xfrm>
          <a:prstGeom prst="roundRect">
            <a:avLst/>
          </a:prstGeom>
          <a:solidFill>
            <a:srgbClr val="282C34"/>
          </a:solidFill>
          <a:ln>
            <a:solidFill>
              <a:srgbClr val="3C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10424160" cy="4480560"/>
          </a:xfrm>
          <a:prstGeom prst="rect">
            <a:avLst/>
          </a:prstGeom>
          <a:noFill/>
        </p:spPr>
        <p:txBody>
          <a:bodyPr wrap="square">
            <a:spAutoFit/>
          </a:bodyPr>
          <a:lstStyle/>
          <a:p>
            <a:pPr>
              <a:spcAft>
                <a:spcPts val="200"/>
              </a:spcAft>
              <a:defRPr sz="1400">
                <a:solidFill>
                  <a:srgbClr val="ABB2BF"/>
                </a:solidFill>
                <a:latin typeface="Consolas"/>
              </a:defRPr>
            </a:pPr>
            <a:r>
              <a:t># Check if ConfigMap exists</a:t>
            </a:r>
          </a:p>
          <a:p>
            <a:pPr>
              <a:spcAft>
                <a:spcPts val="200"/>
              </a:spcAft>
              <a:defRPr sz="1400">
                <a:solidFill>
                  <a:srgbClr val="ABB2BF"/>
                </a:solidFill>
                <a:latin typeface="Consolas"/>
              </a:defRPr>
            </a:pPr>
            <a:r>
              <a:t>kubectl get configmap app-config</a:t>
            </a:r>
          </a:p>
          <a:p>
            <a:pPr>
              <a:spcAft>
                <a:spcPts val="200"/>
              </a:spcAft>
              <a:defRPr sz="1400">
                <a:solidFill>
                  <a:srgbClr val="ABB2BF"/>
                </a:solidFill>
                <a:latin typeface="Consolas"/>
              </a:defRPr>
            </a:pPr>
          </a:p>
          <a:p>
            <a:pPr>
              <a:spcAft>
                <a:spcPts val="200"/>
              </a:spcAft>
              <a:defRPr sz="1400">
                <a:solidFill>
                  <a:srgbClr val="ABB2BF"/>
                </a:solidFill>
                <a:latin typeface="Consolas"/>
              </a:defRPr>
            </a:pPr>
            <a:r>
              <a:t># Check keys</a:t>
            </a:r>
          </a:p>
          <a:p>
            <a:pPr>
              <a:spcAft>
                <a:spcPts val="200"/>
              </a:spcAft>
              <a:defRPr sz="1400">
                <a:solidFill>
                  <a:srgbClr val="ABB2BF"/>
                </a:solidFill>
                <a:latin typeface="Consolas"/>
              </a:defRPr>
            </a:pPr>
            <a:r>
              <a:t>kubectl describe configmap app-config</a:t>
            </a:r>
          </a:p>
          <a:p>
            <a:pPr>
              <a:spcAft>
                <a:spcPts val="200"/>
              </a:spcAft>
              <a:defRPr sz="1400">
                <a:solidFill>
                  <a:srgbClr val="ABB2BF"/>
                </a:solidFill>
                <a:latin typeface="Consolas"/>
              </a:defRPr>
            </a:pPr>
          </a:p>
          <a:p>
            <a:pPr>
              <a:spcAft>
                <a:spcPts val="200"/>
              </a:spcAft>
              <a:defRPr sz="1400">
                <a:solidFill>
                  <a:srgbClr val="ABB2BF"/>
                </a:solidFill>
                <a:latin typeface="Consolas"/>
              </a:defRPr>
            </a:pPr>
            <a:r>
              <a:t># Check env vars inside running pod</a:t>
            </a:r>
          </a:p>
          <a:p>
            <a:pPr>
              <a:spcAft>
                <a:spcPts val="200"/>
              </a:spcAft>
              <a:defRPr sz="1400">
                <a:solidFill>
                  <a:srgbClr val="ABB2BF"/>
                </a:solidFill>
                <a:latin typeface="Consolas"/>
              </a:defRPr>
            </a:pPr>
            <a:r>
              <a:t>kubectl exec &lt;pod&gt; -- env | sort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9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731520"/>
            <a:ext cx="1828800" cy="548640"/>
          </a:xfrm>
          <a:prstGeom prst="roundRect">
            <a:avLst/>
          </a:prstGeom>
          <a:solidFill>
            <a:srgbClr val="1089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Lab 05</a:t>
            </a:r>
          </a:p>
        </p:txBody>
      </p:sp>
      <p:sp>
        <p:nvSpPr>
          <p:cNvPr id="4" name="TextBox 3"/>
          <p:cNvSpPr txBox="1"/>
          <p:nvPr/>
        </p:nvSpPr>
        <p:spPr>
          <a:xfrm>
            <a:off x="731520" y="1645920"/>
            <a:ext cx="10058400" cy="914400"/>
          </a:xfrm>
          <a:prstGeom prst="rect">
            <a:avLst/>
          </a:prstGeom>
          <a:noFill/>
        </p:spPr>
        <p:txBody>
          <a:bodyPr wrap="square">
            <a:spAutoFit/>
          </a:bodyPr>
          <a:lstStyle/>
          <a:p>
            <a:pPr>
              <a:defRPr sz="3200" b="1">
                <a:solidFill>
                  <a:srgbClr val="FFFFFF"/>
                </a:solidFill>
              </a:defRPr>
            </a:pPr>
            <a:r>
              <a:t>Missing Configuration</a:t>
            </a:r>
          </a:p>
        </p:txBody>
      </p:sp>
      <p:sp>
        <p:nvSpPr>
          <p:cNvPr id="5" name="TextBox 4"/>
          <p:cNvSpPr txBox="1"/>
          <p:nvPr/>
        </p:nvSpPr>
        <p:spPr>
          <a:xfrm>
            <a:off x="731520" y="2560320"/>
            <a:ext cx="10058400" cy="2011680"/>
          </a:xfrm>
          <a:prstGeom prst="rect">
            <a:avLst/>
          </a:prstGeom>
          <a:noFill/>
        </p:spPr>
        <p:txBody>
          <a:bodyPr wrap="square">
            <a:spAutoFit/>
          </a:bodyPr>
          <a:lstStyle/>
          <a:p>
            <a:pPr>
              <a:defRPr sz="1600">
                <a:solidFill>
                  <a:srgbClr val="B4C8DC"/>
                </a:solidFill>
              </a:defRPr>
            </a:pPr>
            <a:r>
              <a:t>A new microservice was deployed to production but it crashes immediately on startup. The developer says 'it works on my machine'. The logs show the app expects environment variables and config files that don't exist in the cluster. Create the missing ConfigMap and Secret to bring the app to life.</a:t>
            </a:r>
          </a:p>
        </p:txBody>
      </p:sp>
      <p:sp>
        <p:nvSpPr>
          <p:cNvPr id="6" name="Rounded Rectangle 5"/>
          <p:cNvSpPr/>
          <p:nvPr/>
        </p:nvSpPr>
        <p:spPr>
          <a:xfrm>
            <a:off x="731520" y="4572000"/>
            <a:ext cx="10058400" cy="1280160"/>
          </a:xfrm>
          <a:prstGeom prst="roundRect">
            <a:avLst/>
          </a:prstGeom>
          <a:solidFill>
            <a:srgbClr val="282C34"/>
          </a:solidFill>
          <a:ln>
            <a:solidFill>
              <a:srgbClr val="1089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709160"/>
            <a:ext cx="9601200" cy="1005840"/>
          </a:xfrm>
          <a:prstGeom prst="rect">
            <a:avLst/>
          </a:prstGeom>
          <a:noFill/>
        </p:spPr>
        <p:txBody>
          <a:bodyPr wrap="square">
            <a:spAutoFit/>
          </a:bodyPr>
          <a:lstStyle/>
          <a:p>
            <a:pPr>
              <a:defRPr sz="1400">
                <a:solidFill>
                  <a:srgbClr val="10893E"/>
                </a:solidFill>
                <a:latin typeface="Consolas"/>
              </a:defRPr>
            </a:pPr>
            <a:r>
              <a:t>$ curl -L https://raw.githubusercontent.com/FYHerrera/AKSTraining/main/curso/lecciones/05-configmaps-y-secrets/lab-05.sh -o lab-05.sh ; chmod +x lab-05.sh ; ./lab-05.sh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