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88952" cy="54864"/>
          </a:xfrm>
          <a:prstGeom prst="rect">
            <a:avLst/>
          </a:prstGeom>
          <a:solidFill>
            <a:srgbClr val="009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0">
                <a:solidFill>
                  <a:srgbClr val="0099FF"/>
                </a:solidFill>
              </a:defRPr>
            </a:pPr>
            <a:r>
              <a:t>Lesson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Pods &amp; Containers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C8DCF0"/>
                </a:solidFill>
              </a:defRPr>
            </a:pPr>
            <a:r>
              <a:t>Understand pod lifecycle, diagnose image errors, and fix deployments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6BEE6"/>
                </a:solidFill>
              </a:defRPr>
            </a:pPr>
            <a:r>
              <a:t>AKS Troubleshooting Course | Azure Kubernetes Service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What is a Pod?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0099FF"/>
                </a:solidFill>
              </a:defRPr>
            </a:pPr>
            <a:r>
              <a:t>The smallest deployable unit in Kubernetes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Anatomy of a Pod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86968" y="1371600"/>
            <a:ext cx="2377440" cy="4572000"/>
          </a:xfrm>
          <a:prstGeom prst="roundRect">
            <a:avLst/>
          </a:prstGeom>
          <a:solidFill>
            <a:srgbClr val="F5F8FC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86968" y="1371600"/>
            <a:ext cx="2377440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" y="1645920"/>
            <a:ext cx="2011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/>
            </a:pPr>
            <a:r>
              <a:t>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22860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78D4"/>
                </a:solidFill>
              </a:defRPr>
            </a:pPr>
            <a:r>
              <a:t>Container(s)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2926080"/>
            <a:ext cx="2011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6464"/>
                </a:solidFill>
              </a:defRPr>
            </a:pPr>
            <a:r>
              <a:t>One or more containers running your application code. All containers in a pod share the same network (localhost) and storage volumes.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57015" y="1371600"/>
            <a:ext cx="2377440" cy="4572000"/>
          </a:xfrm>
          <a:prstGeom prst="roundRect">
            <a:avLst/>
          </a:prstGeom>
          <a:solidFill>
            <a:srgbClr val="F5F8FC"/>
          </a:solidFill>
          <a:ln w="25400">
            <a:solidFill>
              <a:srgbClr val="004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57015" y="1371600"/>
            <a:ext cx="2377440" cy="73152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39896" y="1645920"/>
            <a:ext cx="2011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/>
            </a:pPr>
            <a:r>
              <a:t>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9896" y="22860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4E8C"/>
                </a:solidFill>
              </a:defRPr>
            </a:pPr>
            <a:r>
              <a:t>Pod 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9896" y="2926080"/>
            <a:ext cx="2011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6464"/>
                </a:solidFill>
              </a:defRPr>
            </a:pPr>
            <a:r>
              <a:t>Each pod receives a unique IP address inside the cluster. Other pods can reach it directly using this IP.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7064" y="1371600"/>
            <a:ext cx="2377440" cy="4572000"/>
          </a:xfrm>
          <a:prstGeom prst="roundRect">
            <a:avLst/>
          </a:prstGeom>
          <a:solidFill>
            <a:srgbClr val="F5F8FC"/>
          </a:solidFill>
          <a:ln w="25400">
            <a:solidFill>
              <a:srgbClr val="1089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27064" y="1371600"/>
            <a:ext cx="2377440" cy="73152"/>
          </a:xfrm>
          <a:prstGeom prst="rect">
            <a:avLst/>
          </a:prstGeom>
          <a:solidFill>
            <a:srgbClr val="108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9944" y="1645920"/>
            <a:ext cx="2011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/>
            </a:pPr>
            <a:r>
              <a:t>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22860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0893E"/>
                </a:solidFill>
              </a:defRPr>
            </a:pPr>
            <a:r>
              <a:t>Shared Storage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9944" y="2926080"/>
            <a:ext cx="2011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6464"/>
                </a:solidFill>
              </a:defRPr>
            </a:pPr>
            <a:r>
              <a:t>Volumes defined at the pod level can be mounted into any container within the pod, enabling data sharing.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97112" y="1371600"/>
            <a:ext cx="2377440" cy="4572000"/>
          </a:xfrm>
          <a:prstGeom prst="roundRect">
            <a:avLst/>
          </a:prstGeom>
          <a:solidFill>
            <a:srgbClr val="F5F8FC"/>
          </a:solidFill>
          <a:ln w="2540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97112" y="1371600"/>
            <a:ext cx="2377440" cy="7315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79992" y="1645920"/>
            <a:ext cx="2011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/>
            </a:pPr>
            <a:r>
              <a:t>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9992" y="22860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8C00"/>
                </a:solidFill>
              </a:defRPr>
            </a:pPr>
            <a:r>
              <a:t>Ephemeral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79992" y="2926080"/>
            <a:ext cx="2011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6464"/>
                </a:solidFill>
              </a:defRPr>
            </a:pPr>
            <a:r>
              <a:t>Pods are disposable. When a pod is deleted or crashes, it is not repaired — a new pod is created to replace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Pod YAML Manifest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282C34"/>
          </a:solidFill>
          <a:ln>
            <a:solidFill>
              <a:srgbClr val="3C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apiVersion: v1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kind: Pod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metadata: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name: web-app              # Pod name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labels: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app: web-app             # Labels for selectors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spec: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containers: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- name: nginx              # Container name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image: nginx:1.25         # registry/repo:tag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ports: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- containerPort: 80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resources: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  requests:              # Minimum guaranteed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cpu: 100m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memory: 128Mi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  limits:                # Maximum allowed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cpu: 500m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memory: 256Mi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Pod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0099FF"/>
                </a:solidFill>
              </a:defRPr>
            </a:pPr>
            <a:r>
              <a:t>Understanding pod states is key to troubleshooting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Pod Lifecycle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08759" y="2011680"/>
            <a:ext cx="2011680" cy="91440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Pending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19" y="3200400"/>
            <a:ext cx="2194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646464"/>
                </a:solidFill>
              </a:defRPr>
            </a:pPr>
            <a:r>
              <a:t>Waiting for node</a:t>
            </a:r>
            <a:br/>
            <a:r>
              <a:t>assignment or</a:t>
            </a:r>
            <a:br/>
            <a:r>
              <a:t>image download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538727" y="2286000"/>
            <a:ext cx="329184" cy="365760"/>
          </a:xfrm>
          <a:prstGeom prst="rightArrow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886200" y="2011680"/>
            <a:ext cx="2011680" cy="914400"/>
          </a:xfrm>
          <a:prstGeom prst="roundRect">
            <a:avLst/>
          </a:prstGeom>
          <a:solidFill>
            <a:srgbClr val="108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Running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3200400"/>
            <a:ext cx="2194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646464"/>
                </a:solidFill>
              </a:defRPr>
            </a:pPr>
            <a:r>
              <a:t>At least one container</a:t>
            </a:r>
            <a:br/>
            <a:r>
              <a:t>is running.</a:t>
            </a:r>
            <a:br/>
            <a:r>
              <a:t>Normal state.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916168" y="2286000"/>
            <a:ext cx="329184" cy="365760"/>
          </a:xfrm>
          <a:prstGeom prst="rightArrow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011680"/>
            <a:ext cx="2011680" cy="91440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Succeeded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3200400"/>
            <a:ext cx="2194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646464"/>
                </a:solidFill>
              </a:defRPr>
            </a:pPr>
            <a:r>
              <a:t>All containers</a:t>
            </a:r>
            <a:br/>
            <a:r>
              <a:t>exited with code 0.</a:t>
            </a:r>
            <a:br/>
            <a:r>
              <a:t>(Jobs, CronJobs)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293608" y="2286000"/>
            <a:ext cx="329184" cy="365760"/>
          </a:xfrm>
          <a:prstGeom prst="rightArrow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641080" y="2011680"/>
            <a:ext cx="2011680" cy="914400"/>
          </a:xfrm>
          <a:prstGeom prst="roundRect">
            <a:avLst/>
          </a:prstGeom>
          <a:solidFill>
            <a:srgbClr val="D13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Failed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3200400"/>
            <a:ext cx="2194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646464"/>
                </a:solidFill>
              </a:defRPr>
            </a:pPr>
            <a:r>
              <a:t>At least one container</a:t>
            </a:r>
            <a:br/>
            <a:r>
              <a:t>exited with error.</a:t>
            </a:r>
            <a:br/>
            <a:r>
              <a:t>(exit code ≠ 0)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Error States You Will Encounter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State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What It Means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Common Cause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ImagePullBackOff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Cannot download the container image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Wrong image name/tag, private registry without auth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ErrImagePull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First attempt to pull image failed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Image does not exist in the registry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CrashLoopBackOff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Container keeps crashing and restarting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App error, wrong command, missing config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OOMKilled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Container exceeded memory limit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Memory limit too low or memory leak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Pending (stuck)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Pod cannot be scheduled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Insufficient CPU/memory on nodes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Container Images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0099FF"/>
                </a:solidFill>
              </a:defRPr>
            </a:pPr>
            <a:r>
              <a:t>How Kubernetes finds and pulls your application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Image Format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371600"/>
            <a:ext cx="10332720" cy="164592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registry / repository : tag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7472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12121"/>
                </a:solidFill>
              </a:defRPr>
            </a:pPr>
            <a:r>
              <a:t>nginx:1.25  →  Docker Hub (implicit registry, most common)</a:t>
            </a:r>
          </a:p>
          <a:p>
            <a:pPr>
              <a:spcAft>
                <a:spcPts val="800"/>
              </a:spcAft>
              <a:defRPr sz="1700">
                <a:solidFill>
                  <a:srgbClr val="212121"/>
                </a:solidFill>
              </a:defRPr>
            </a:pPr>
            <a:r>
              <a:t>mcr.microsoft.com/azuredocs/aci-helloworld  →  Microsoft Container Registry</a:t>
            </a:r>
          </a:p>
          <a:p>
            <a:pPr>
              <a:spcAft>
                <a:spcPts val="800"/>
              </a:spcAft>
              <a:defRPr sz="1700">
                <a:solidFill>
                  <a:srgbClr val="212121"/>
                </a:solidFill>
              </a:defRPr>
            </a:pPr>
            <a:r>
              <a:t>myacr.azurecr.io/myapp:v2  →  Azure Container Registry (private)</a:t>
            </a:r>
          </a:p>
          <a:p>
            <a:pPr>
              <a:spcAft>
                <a:spcPts val="800"/>
              </a:spcAft>
              <a:defRPr sz="1700">
                <a:solidFill>
                  <a:srgbClr val="212121"/>
                </a:solidFill>
              </a:defRPr>
            </a:pPr>
          </a:p>
          <a:p>
            <a:pPr>
              <a:spcAft>
                <a:spcPts val="800"/>
              </a:spcAft>
              <a:defRPr sz="1700">
                <a:solidFill>
                  <a:srgbClr val="212121"/>
                </a:solidFill>
              </a:defRPr>
            </a:pPr>
            <a:r>
              <a:t>If the tag does not exist, Kubernetes reports ErrImagePull</a:t>
            </a:r>
          </a:p>
          <a:p>
            <a:pPr>
              <a:spcAft>
                <a:spcPts val="800"/>
              </a:spcAft>
              <a:defRPr sz="1700">
                <a:solidFill>
                  <a:srgbClr val="212121"/>
                </a:solidFill>
              </a:defRPr>
            </a:pPr>
            <a:r>
              <a:t>After repeated failures, the status becomes ImagePullBackOff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Image Pull: Success vs Failure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03520" cy="50292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✅ Successful Pull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12121"/>
                </a:solidFill>
              </a:defRPr>
            </a:pPr>
            <a:r>
              <a:t>Image and tag exist in the registry</a:t>
            </a:r>
          </a:p>
          <a:p>
            <a:pPr>
              <a:spcAft>
                <a:spcPts val="600"/>
              </a:spcAft>
              <a:defRPr sz="1600">
                <a:solidFill>
                  <a:srgbClr val="212121"/>
                </a:solidFill>
              </a:defRPr>
            </a:pPr>
            <a:r>
              <a:t>Cluster has network access to the registry</a:t>
            </a:r>
          </a:p>
          <a:p>
            <a:pPr>
              <a:spcAft>
                <a:spcPts val="600"/>
              </a:spcAft>
              <a:defRPr sz="1600">
                <a:solidFill>
                  <a:srgbClr val="212121"/>
                </a:solidFill>
              </a:defRPr>
            </a:pPr>
            <a:r>
              <a:t>If private: imagePullSecrets configured</a:t>
            </a:r>
          </a:p>
          <a:p>
            <a:pPr>
              <a:spcAft>
                <a:spcPts val="600"/>
              </a:spcAft>
              <a:defRPr sz="1600">
                <a:solidFill>
                  <a:srgbClr val="212121"/>
                </a:solidFill>
              </a:defRPr>
            </a:pPr>
            <a:r>
              <a:t>Pod transitions: Pending → Running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303520" cy="502920"/>
          </a:xfrm>
          <a:prstGeom prst="round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❌ Failed Pull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12121"/>
                </a:solidFill>
              </a:defRPr>
            </a:pPr>
            <a:r>
              <a:t>Image name is misspelled or tag does not exist</a:t>
            </a:r>
          </a:p>
          <a:p>
            <a:pPr>
              <a:spcAft>
                <a:spcPts val="600"/>
              </a:spcAft>
              <a:defRPr sz="1600">
                <a:solidFill>
                  <a:srgbClr val="212121"/>
                </a:solidFill>
              </a:defRPr>
            </a:pPr>
            <a:r>
              <a:t>Registry is unreachable (firewall, DNS)</a:t>
            </a:r>
          </a:p>
          <a:p>
            <a:pPr>
              <a:spcAft>
                <a:spcPts val="600"/>
              </a:spcAft>
              <a:defRPr sz="1600">
                <a:solidFill>
                  <a:srgbClr val="212121"/>
                </a:solidFill>
              </a:defRPr>
            </a:pPr>
            <a:r>
              <a:t>Private registry without credentials</a:t>
            </a:r>
          </a:p>
          <a:p>
            <a:pPr>
              <a:spcAft>
                <a:spcPts val="600"/>
              </a:spcAft>
              <a:defRPr sz="1600">
                <a:solidFill>
                  <a:srgbClr val="212121"/>
                </a:solidFill>
              </a:defRPr>
            </a:pPr>
            <a:r>
              <a:t>Pod stays stuck in ImagePullBackOff</a:t>
            </a:r>
          </a:p>
        </p:txBody>
      </p:sp>
      <p:sp>
        <p:nvSpPr>
          <p:cNvPr id="9" name="Rectangle 8"/>
          <p:cNvSpPr/>
          <p:nvPr/>
        </p:nvSpPr>
        <p:spPr>
          <a:xfrm>
            <a:off x="5897880" y="1188720"/>
            <a:ext cx="27432" cy="484632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Diagnosing Pod Problems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0099FF"/>
                </a:solidFill>
              </a:defRPr>
            </a:pPr>
            <a:r>
              <a:t>The 3-step troubleshooting process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Diagnosis Workflow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97479" y="2011680"/>
            <a:ext cx="2011680" cy="91440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1. 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06039" y="3200400"/>
            <a:ext cx="2194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646464"/>
                </a:solidFill>
              </a:defRPr>
            </a:pPr>
            <a:r>
              <a:t>kubectl get pods</a:t>
            </a:r>
            <a:br/>
            <a:br/>
            <a:r>
              <a:t>See STATUS column:</a:t>
            </a:r>
            <a:br/>
            <a:r>
              <a:t>ImagePullBackOff?</a:t>
            </a:r>
            <a:br/>
            <a:r>
              <a:t>CrashLoopBackOff?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727448" y="2286000"/>
            <a:ext cx="329184" cy="365760"/>
          </a:xfrm>
          <a:prstGeom prst="rightArrow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74920" y="2011680"/>
            <a:ext cx="2011680" cy="914400"/>
          </a:xfrm>
          <a:prstGeom prst="roundRect">
            <a:avLst/>
          </a:prstGeom>
          <a:solidFill>
            <a:srgbClr val="00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2. DESCRIBE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83480" y="3200400"/>
            <a:ext cx="2194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646464"/>
                </a:solidFill>
              </a:defRPr>
            </a:pPr>
            <a:r>
              <a:t>kubectl describe pod</a:t>
            </a:r>
            <a:br/>
            <a:br/>
            <a:r>
              <a:t>Scroll to EVENTS.</a:t>
            </a:r>
            <a:br/>
            <a:r>
              <a:t>Find the error message</a:t>
            </a:r>
            <a:br/>
            <a:r>
              <a:t>and root cause.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04888" y="2286000"/>
            <a:ext cx="329184" cy="365760"/>
          </a:xfrm>
          <a:prstGeom prst="rightArrow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52360" y="2011680"/>
            <a:ext cx="2011680" cy="914400"/>
          </a:xfrm>
          <a:prstGeom prst="roundRect">
            <a:avLst/>
          </a:prstGeom>
          <a:solidFill>
            <a:srgbClr val="108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3. LOGS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0920" y="3200400"/>
            <a:ext cx="2194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646464"/>
                </a:solidFill>
              </a:defRPr>
            </a:pPr>
            <a:r>
              <a:t>kubectl logs &lt;pod&gt;</a:t>
            </a:r>
            <a:br/>
            <a:br/>
            <a:r>
              <a:t>See app output.</a:t>
            </a:r>
            <a:br/>
            <a:r>
              <a:t>Use --previous for</a:t>
            </a:r>
            <a:br/>
            <a:r>
              <a:t>crashed containers.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Step 1: kubectl get pods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282C34"/>
          </a:solidFill>
          <a:ln>
            <a:solidFill>
              <a:srgbClr val="3C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$ kubectl get pods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NAME                       READY   STATUS             RESTARTS   AGE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web-app-6d8f9b4c7-abc12   0/1     ImagePullBackOff   0          5m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web-app-6d8f9b4c7-def34   0/1     ImagePullBackOff   0          5m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web-app-6d8f9b4c7-ghi56   0/1     ImagePullBackOff   0          5m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STATUS tells you the problem category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READY 0/1 means zero containers are ready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3 pods failing = Deployment with 3 replicas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Step 2: kubectl describe pod (EVENTS!)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282C34"/>
          </a:solidFill>
          <a:ln>
            <a:solidFill>
              <a:srgbClr val="3C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$ kubectl describe pod web-app-6d8f9b4c7-abc12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... (scroll to the bottom for Events)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Events: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Type     Reason     Age   Message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----     ------     ----  -------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Normal   Scheduled  5m    Successfully assigned default/web-app...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Normal   Pulling    5m    Pulling image "nginx:99.99.99-nonexistent"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Warning  Failed     5m    Failed to pull: tag does not exist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Warning  Failed     5m    Error: ErrImagePull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Normal   BackOff    4m    Back-off pulling image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Warning  Failed     4m    Error: ImagePullBackOff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Key Insight: Events Tell the Story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371600"/>
            <a:ext cx="10332720" cy="164592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The Events section in 'kubectl describe' always reveals the root cause.</a:t>
            </a:r>
            <a:br/>
            <a:r>
              <a:t>For ImagePullBackOff, it shows exactly which image and tag failed.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7472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12121"/>
                </a:solidFill>
              </a:defRPr>
            </a:pPr>
            <a:r>
              <a:t>Always scroll to the BOTTOM of describe output to find Events</a:t>
            </a:r>
          </a:p>
          <a:p>
            <a:pPr>
              <a:spcAft>
                <a:spcPts val="800"/>
              </a:spcAft>
              <a:defRPr sz="1700">
                <a:solidFill>
                  <a:srgbClr val="212121"/>
                </a:solidFill>
              </a:defRPr>
            </a:pPr>
            <a:r>
              <a:t>Look for 'Warning' type events — they indicate problems</a:t>
            </a:r>
          </a:p>
          <a:p>
            <a:pPr>
              <a:spcAft>
                <a:spcPts val="800"/>
              </a:spcAft>
              <a:defRPr sz="1700">
                <a:solidFill>
                  <a:srgbClr val="212121"/>
                </a:solidFill>
              </a:defRPr>
            </a:pPr>
            <a:r>
              <a:t>The Message column contains the specific error details</a:t>
            </a:r>
          </a:p>
          <a:p>
            <a:pPr>
              <a:spcAft>
                <a:spcPts val="800"/>
              </a:spcAft>
              <a:defRPr sz="1700">
                <a:solidFill>
                  <a:srgbClr val="212121"/>
                </a:solidFill>
              </a:defRPr>
            </a:pPr>
            <a:r>
              <a:t>In our case: 'Failed to pull image nginx:99.99.99-nonexistent'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Step 3: kubectl logs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282C34"/>
          </a:solidFill>
          <a:ln>
            <a:solidFill>
              <a:srgbClr val="3C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If the container started (Running/CrashLoopBackOff):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logs web-app-6d8f9b4c7-abc12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If it crashed, see previous container logs: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logs web-app-6d8f9b4c7-abc12 --previous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View logs for all pods with a label: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logs -l app=web-app --all-containers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NOTE: For ImagePullBackOff, there are NO logs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because the container never started!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Fixing a Broken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0099FF"/>
                </a:solidFill>
              </a:defRPr>
            </a:pPr>
            <a:r>
              <a:t>From diagnosis to resolution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Finding the Bad Image in a Deployment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282C34"/>
          </a:solidFill>
          <a:ln>
            <a:solidFill>
              <a:srgbClr val="3C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View the deployment's current image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get deployment web-app -o wide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Or see full YAML (look at spec.containers.image)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get deployment web-app -o yaml | grep image: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Output: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  image: nginx:99.99.99-nonexistent    &lt;-- THE PROBLEM!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Fixing the Image (The Solution)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282C34"/>
          </a:solidFill>
          <a:ln>
            <a:solidFill>
              <a:srgbClr val="3C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Option 1: Set the correct image directly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set image deployment/web-app nginx=nginx:1.25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Option 2: Edit the deployment interactively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edit deployment web-app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Change: image: nginx:99.99.99-nonexistent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To:     image: nginx:1.25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Verify the fix: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get pods -w   # Watch pods transition to Running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Multi-Container Pods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0099FF"/>
                </a:solidFill>
              </a:defRPr>
            </a:pPr>
            <a:r>
              <a:t>Init containers and sidecars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Multi-Container Patterns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03520" cy="50292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Init Containers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12121"/>
                </a:solidFill>
              </a:defRPr>
            </a:pPr>
            <a:r>
              <a:t>Run BEFORE the main container</a:t>
            </a:r>
          </a:p>
          <a:p>
            <a:pPr>
              <a:spcAft>
                <a:spcPts val="600"/>
              </a:spcAft>
              <a:defRPr sz="1600">
                <a:solidFill>
                  <a:srgbClr val="212121"/>
                </a:solidFill>
              </a:defRPr>
            </a:pPr>
            <a:r>
              <a:t>Must complete successfully first</a:t>
            </a:r>
          </a:p>
          <a:p>
            <a:pPr>
              <a:spcAft>
                <a:spcPts val="600"/>
              </a:spcAft>
              <a:defRPr sz="1600">
                <a:solidFill>
                  <a:srgbClr val="212121"/>
                </a:solidFill>
              </a:defRPr>
            </a:pPr>
            <a:r>
              <a:t>Used for: DB migrations, config setup, waiting for dependencies</a:t>
            </a:r>
          </a:p>
          <a:p>
            <a:pPr>
              <a:spcAft>
                <a:spcPts val="600"/>
              </a:spcAft>
              <a:defRPr sz="1600">
                <a:solidFill>
                  <a:srgbClr val="212121"/>
                </a:solidFill>
              </a:defRPr>
            </a:pPr>
            <a:r>
              <a:t>If init fails: Pod stuck in Init:Error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303520" cy="502920"/>
          </a:xfrm>
          <a:prstGeom prst="round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Sidecar Containers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12121"/>
                </a:solidFill>
              </a:defRPr>
            </a:pPr>
            <a:r>
              <a:t>Run ALONGSIDE the main container</a:t>
            </a:r>
          </a:p>
          <a:p>
            <a:pPr>
              <a:spcAft>
                <a:spcPts val="600"/>
              </a:spcAft>
              <a:defRPr sz="1600">
                <a:solidFill>
                  <a:srgbClr val="212121"/>
                </a:solidFill>
              </a:defRPr>
            </a:pPr>
            <a:r>
              <a:t>Share network and storage</a:t>
            </a:r>
          </a:p>
          <a:p>
            <a:pPr>
              <a:spcAft>
                <a:spcPts val="600"/>
              </a:spcAft>
              <a:defRPr sz="1600">
                <a:solidFill>
                  <a:srgbClr val="212121"/>
                </a:solidFill>
              </a:defRPr>
            </a:pPr>
            <a:r>
              <a:t>Used for: logging agents, proxies, monitoring</a:t>
            </a:r>
          </a:p>
          <a:p>
            <a:pPr>
              <a:spcAft>
                <a:spcPts val="600"/>
              </a:spcAft>
              <a:defRPr sz="1600">
                <a:solidFill>
                  <a:srgbClr val="212121"/>
                </a:solidFill>
              </a:defRPr>
            </a:pPr>
            <a:r>
              <a:t>If sidecar crashes: may affect main app</a:t>
            </a:r>
          </a:p>
        </p:txBody>
      </p:sp>
      <p:sp>
        <p:nvSpPr>
          <p:cNvPr id="9" name="Rectangle 8"/>
          <p:cNvSpPr/>
          <p:nvPr/>
        </p:nvSpPr>
        <p:spPr>
          <a:xfrm>
            <a:off x="5897880" y="1188720"/>
            <a:ext cx="27432" cy="484632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Resource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0099FF"/>
                </a:solidFill>
              </a:defRPr>
            </a:pPr>
            <a:r>
              <a:t>Requests, Limits, and OOMKilled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Requests vs Limits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03520" cy="50292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Requests (Minimum)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12121"/>
                </a:solidFill>
              </a:defRPr>
            </a:pPr>
            <a:r>
              <a:t>What the pod is guaranteed to get</a:t>
            </a:r>
          </a:p>
          <a:p>
            <a:pPr>
              <a:spcAft>
                <a:spcPts val="600"/>
              </a:spcAft>
              <a:defRPr sz="1600">
                <a:solidFill>
                  <a:srgbClr val="212121"/>
                </a:solidFill>
              </a:defRPr>
            </a:pPr>
            <a:r>
              <a:t>The scheduler uses this to place pods on nodes</a:t>
            </a:r>
          </a:p>
          <a:p>
            <a:pPr>
              <a:spcAft>
                <a:spcPts val="600"/>
              </a:spcAft>
              <a:defRPr sz="1600">
                <a:solidFill>
                  <a:srgbClr val="212121"/>
                </a:solidFill>
              </a:defRPr>
            </a:pPr>
            <a:r>
              <a:t>If a node lacks capacity → pod stays Pending</a:t>
            </a:r>
          </a:p>
          <a:p>
            <a:pPr lvl="1">
              <a:spcAft>
                <a:spcPts val="600"/>
              </a:spcAft>
              <a:defRPr sz="1400">
                <a:solidFill>
                  <a:srgbClr val="646464"/>
                </a:solidFill>
              </a:defRPr>
            </a:pPr>
            <a:r>
              <a:t>kubectl describe node | grep Allocated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303520" cy="502920"/>
          </a:xfrm>
          <a:prstGeom prst="round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Limits (Maximum)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12121"/>
                </a:solidFill>
              </a:defRPr>
            </a:pPr>
            <a:r>
              <a:t>The hard ceiling a container can use</a:t>
            </a:r>
          </a:p>
          <a:p>
            <a:pPr>
              <a:spcAft>
                <a:spcPts val="600"/>
              </a:spcAft>
              <a:defRPr sz="1600">
                <a:solidFill>
                  <a:srgbClr val="212121"/>
                </a:solidFill>
              </a:defRPr>
            </a:pPr>
            <a:r>
              <a:t>Exceed CPU limit → throttled (slower, not killed)</a:t>
            </a:r>
          </a:p>
          <a:p>
            <a:pPr>
              <a:spcAft>
                <a:spcPts val="600"/>
              </a:spcAft>
              <a:defRPr sz="1600">
                <a:solidFill>
                  <a:srgbClr val="212121"/>
                </a:solidFill>
              </a:defRPr>
            </a:pPr>
            <a:r>
              <a:t>Exceed memory limit → OOMKilled immediately</a:t>
            </a:r>
          </a:p>
          <a:p>
            <a:pPr lvl="1">
              <a:spcAft>
                <a:spcPts val="600"/>
              </a:spcAft>
              <a:defRPr sz="1400">
                <a:solidFill>
                  <a:srgbClr val="646464"/>
                </a:solidFill>
              </a:defRPr>
            </a:pPr>
            <a:r>
              <a:t>kubectl top pods (current usage)</a:t>
            </a:r>
          </a:p>
        </p:txBody>
      </p:sp>
      <p:sp>
        <p:nvSpPr>
          <p:cNvPr id="9" name="Rectangle 8"/>
          <p:cNvSpPr/>
          <p:nvPr/>
        </p:nvSpPr>
        <p:spPr>
          <a:xfrm>
            <a:off x="5897880" y="1188720"/>
            <a:ext cx="27432" cy="484632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Complete Diagnosis Reference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0972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Symptom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Command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What to Look For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Pod not starting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get pods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STATUS column: ImagePullBackOff, Pending, etc.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Why is it failing?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describe pod &lt;name&gt;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Events section at the bottom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App crashes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logs &lt;pod&gt;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Error messages from the application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Previous crash info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logs &lt;pod&gt; --previous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Logs before the container restarted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Wrong image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get deploy -o yaml | grep image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Verify the image:tag is correct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Fix deployment image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set image deploy/&lt;name&gt; &lt;ctr&gt;=&lt;img:tag&gt;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Pods should transition to Running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Lab Preparation: Commands You Will Need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Step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Command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Purpose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get pods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See which pods are failing and their status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describe pod &lt;name&gt;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Read Events to find the bad image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get deploy web-app -o yaml | grep image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Confirm the incorrect image tag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set image deployment/web-app nginx=nginx:1.25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Fix the image to a valid tag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get pods -w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Watch pods recover to Running state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923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828800" cy="548640"/>
          </a:xfrm>
          <a:prstGeom prst="roundRect">
            <a:avLst/>
          </a:prstGeom>
          <a:solidFill>
            <a:srgbClr val="108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Lab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Fix ImagePullBackOff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B4C8DC"/>
                </a:solidFill>
              </a:defRPr>
            </a:pPr>
            <a:r>
              <a:t>A deployment called 'web-app' has 3 replicas stuck in ImagePullBackOff. The image tag is wrong. Use the 3-step diagnosis process (get → describe → fix) to identify the bad image and set a valid one. All 3 replicas must be Running to pass.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572000"/>
            <a:ext cx="10058400" cy="1280160"/>
          </a:xfrm>
          <a:prstGeom prst="roundRect">
            <a:avLst/>
          </a:prstGeom>
          <a:solidFill>
            <a:srgbClr val="282C34"/>
          </a:solidFill>
          <a:ln>
            <a:solidFill>
              <a:srgbClr val="1089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709160"/>
            <a:ext cx="9601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0893E"/>
                </a:solidFill>
                <a:latin typeface="Consolas"/>
              </a:defRPr>
            </a:pPr>
            <a:r>
              <a:t>$ curl -L https://raw.githubusercontent.com/FYHerrera/AKSTraining/main/curso/lecciones/02-pods-y-contenedores/lab-02.sh -o lab-02.sh ; chmod +x lab-02.sh ; ./lab-02.sh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