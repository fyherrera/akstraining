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88952" cy="54864"/>
          </a:xfrm>
          <a:prstGeom prst="rect">
            <a:avLst/>
          </a:prstGeom>
          <a:solidFill>
            <a:srgbClr val="00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058400" cy="914400"/>
          </a:xfrm>
          <a:prstGeom prst="rect">
            <a:avLst/>
          </a:prstGeom>
          <a:noFill/>
        </p:spPr>
        <p:txBody>
          <a:bodyPr wrap="none">
            <a:spAutoFit/>
          </a:bodyPr>
          <a:lstStyle/>
          <a:p>
            <a:pPr>
              <a:defRPr sz="2400" b="0">
                <a:solidFill>
                  <a:srgbClr val="0099FF"/>
                </a:solidFill>
              </a:defRPr>
            </a:pPr>
            <a:r>
              <a:t>Lesson 06</a:t>
            </a:r>
          </a:p>
        </p:txBody>
      </p:sp>
      <p:sp>
        <p:nvSpPr>
          <p:cNvPr id="5" name="TextBox 4"/>
          <p:cNvSpPr txBox="1"/>
          <p:nvPr/>
        </p:nvSpPr>
        <p:spPr>
          <a:xfrm>
            <a:off x="731520" y="1463040"/>
            <a:ext cx="10058400" cy="1371600"/>
          </a:xfrm>
          <a:prstGeom prst="rect">
            <a:avLst/>
          </a:prstGeom>
          <a:noFill/>
        </p:spPr>
        <p:txBody>
          <a:bodyPr wrap="square">
            <a:spAutoFit/>
          </a:bodyPr>
          <a:lstStyle/>
          <a:p>
            <a:pPr>
              <a:defRPr sz="4000" b="1">
                <a:solidFill>
                  <a:srgbClr val="FFFFFF"/>
                </a:solidFill>
              </a:defRPr>
            </a:pPr>
            <a:r>
              <a:t>Storage &amp; Volumes</a:t>
            </a:r>
          </a:p>
        </p:txBody>
      </p:sp>
      <p:sp>
        <p:nvSpPr>
          <p:cNvPr id="6" name="TextBox 5"/>
          <p:cNvSpPr txBox="1"/>
          <p:nvPr/>
        </p:nvSpPr>
        <p:spPr>
          <a:xfrm>
            <a:off x="731520" y="3200400"/>
            <a:ext cx="10058400" cy="1828800"/>
          </a:xfrm>
          <a:prstGeom prst="rect">
            <a:avLst/>
          </a:prstGeom>
          <a:noFill/>
        </p:spPr>
        <p:txBody>
          <a:bodyPr wrap="square">
            <a:spAutoFit/>
          </a:bodyPr>
          <a:lstStyle/>
          <a:p>
            <a:pPr>
              <a:defRPr sz="2000">
                <a:solidFill>
                  <a:srgbClr val="C8DCF0"/>
                </a:solidFill>
              </a:defRPr>
            </a:pPr>
            <a:r>
              <a:t>Persistent data with PV, PVC, and StorageClasses in AKS</a:t>
            </a:r>
          </a:p>
        </p:txBody>
      </p:sp>
      <p:sp>
        <p:nvSpPr>
          <p:cNvPr id="7" name="TextBox 6"/>
          <p:cNvSpPr txBox="1"/>
          <p:nvPr/>
        </p:nvSpPr>
        <p:spPr>
          <a:xfrm>
            <a:off x="731520" y="5943600"/>
            <a:ext cx="10058400" cy="457200"/>
          </a:xfrm>
          <a:prstGeom prst="rect">
            <a:avLst/>
          </a:prstGeom>
          <a:noFill/>
        </p:spPr>
        <p:txBody>
          <a:bodyPr wrap="none">
            <a:spAutoFit/>
          </a:bodyPr>
          <a:lstStyle/>
          <a:p>
            <a:pPr>
              <a:defRPr sz="1200">
                <a:solidFill>
                  <a:srgbClr val="96BEE6"/>
                </a:solidFill>
              </a:defRPr>
            </a:pPr>
            <a:r>
              <a:t>AKS Troubleshooting Course | Azure Kubernetes Service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04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058400" cy="1371600"/>
          </a:xfrm>
          <a:prstGeom prst="rect">
            <a:avLst/>
          </a:prstGeom>
          <a:noFill/>
        </p:spPr>
        <p:txBody>
          <a:bodyPr wrap="square">
            <a:spAutoFit/>
          </a:bodyPr>
          <a:lstStyle/>
          <a:p>
            <a:pPr>
              <a:defRPr sz="3600" b="1">
                <a:solidFill>
                  <a:srgbClr val="FFFFFF"/>
                </a:solidFill>
              </a:defRPr>
            </a:pPr>
            <a:r>
              <a:t>The Problem</a:t>
            </a:r>
          </a:p>
        </p:txBody>
      </p:sp>
      <p:sp>
        <p:nvSpPr>
          <p:cNvPr id="4" name="TextBox 3"/>
          <p:cNvSpPr txBox="1"/>
          <p:nvPr/>
        </p:nvSpPr>
        <p:spPr>
          <a:xfrm>
            <a:off x="914400" y="3840480"/>
            <a:ext cx="10058400" cy="914400"/>
          </a:xfrm>
          <a:prstGeom prst="rect">
            <a:avLst/>
          </a:prstGeom>
          <a:noFill/>
        </p:spPr>
        <p:txBody>
          <a:bodyPr wrap="square">
            <a:spAutoFit/>
          </a:bodyPr>
          <a:lstStyle/>
          <a:p>
            <a:pPr>
              <a:defRPr sz="1800">
                <a:solidFill>
                  <a:srgbClr val="0099FF"/>
                </a:solidFill>
              </a:defRPr>
            </a:pPr>
            <a:r>
              <a:t>Containers are ephemeral – data is lost on restart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46520"/>
            <a:ext cx="12188952" cy="411480"/>
          </a:xfrm>
          <a:prstGeom prst="rect">
            <a:avLst/>
          </a:prstGeom>
          <a:solidFill>
            <a:srgbClr val="00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r">
              <a:defRPr sz="1000">
                <a:solidFill>
                  <a:srgbClr val="FFFFFF"/>
                </a:solidFill>
              </a:defRPr>
            </a:pPr>
            <a:r>
              <a:t>AKS Troubleshooting Course</a:t>
            </a:r>
          </a:p>
        </p:txBody>
      </p:sp>
      <p:sp>
        <p:nvSpPr>
          <p:cNvPr id="4" name="TextBox 3"/>
          <p:cNvSpPr txBox="1"/>
          <p:nvPr/>
        </p:nvSpPr>
        <p:spPr>
          <a:xfrm>
            <a:off x="548640" y="137160"/>
            <a:ext cx="10972800" cy="822960"/>
          </a:xfrm>
          <a:prstGeom prst="rect">
            <a:avLst/>
          </a:prstGeom>
          <a:noFill/>
        </p:spPr>
        <p:txBody>
          <a:bodyPr wrap="square">
            <a:spAutoFit/>
          </a:bodyPr>
          <a:lstStyle/>
          <a:p>
            <a:pPr>
              <a:defRPr sz="2800" b="1">
                <a:solidFill>
                  <a:srgbClr val="FFFFFF"/>
                </a:solidFill>
              </a:defRPr>
            </a:pPr>
            <a:r>
              <a:t>Key Concepts</a:t>
            </a:r>
          </a:p>
        </p:txBody>
      </p:sp>
      <p:sp>
        <p:nvSpPr>
          <p:cNvPr id="5" name="TextBox 4"/>
          <p:cNvSpPr txBox="1"/>
          <p:nvPr/>
        </p:nvSpPr>
        <p:spPr>
          <a:xfrm>
            <a:off x="731520" y="1280160"/>
            <a:ext cx="10515600" cy="4846320"/>
          </a:xfrm>
          <a:prstGeom prst="rect">
            <a:avLst/>
          </a:prstGeom>
          <a:noFill/>
        </p:spPr>
        <p:txBody>
          <a:bodyPr wrap="square">
            <a:spAutoFit/>
          </a:bodyPr>
          <a:lstStyle/>
          <a:p>
            <a:pPr>
              <a:spcAft>
                <a:spcPts val="600"/>
              </a:spcAft>
              <a:defRPr sz="1800">
                <a:solidFill>
                  <a:srgbClr val="212121"/>
                </a:solidFill>
              </a:defRPr>
            </a:pPr>
            <a:r>
              <a:t>StorageClass – Defines HOW storage is provisioned</a:t>
            </a:r>
          </a:p>
          <a:p>
            <a:pPr>
              <a:spcAft>
                <a:spcPts val="600"/>
              </a:spcAft>
              <a:defRPr sz="1800">
                <a:solidFill>
                  <a:srgbClr val="212121"/>
                </a:solidFill>
              </a:defRPr>
            </a:pPr>
            <a:r>
              <a:t>PersistentVolume (PV) – A real provisioned disk</a:t>
            </a:r>
          </a:p>
          <a:p>
            <a:pPr>
              <a:spcAft>
                <a:spcPts val="600"/>
              </a:spcAft>
              <a:defRPr sz="1800">
                <a:solidFill>
                  <a:srgbClr val="212121"/>
                </a:solidFill>
              </a:defRPr>
            </a:pPr>
            <a:r>
              <a:t>PersistentVolumeClaim (PVC) – A pod's request for storage</a:t>
            </a:r>
          </a:p>
          <a:p>
            <a:pPr>
              <a:spcAft>
                <a:spcPts val="600"/>
              </a:spcAft>
              <a:defRPr sz="1800">
                <a:solidFill>
                  <a:srgbClr val="212121"/>
                </a:solidFill>
              </a:defRPr>
            </a:pPr>
            <a:r>
              <a:t>Flow: Pod → PVC → PV → Azure Disk / Azure Files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46520"/>
            <a:ext cx="12188952" cy="411480"/>
          </a:xfrm>
          <a:prstGeom prst="rect">
            <a:avLst/>
          </a:prstGeom>
          <a:solidFill>
            <a:srgbClr val="00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r">
              <a:defRPr sz="1000">
                <a:solidFill>
                  <a:srgbClr val="FFFFFF"/>
                </a:solidFill>
              </a:defRPr>
            </a:pPr>
            <a:r>
              <a:t>AKS Troubleshooting Course</a:t>
            </a:r>
          </a:p>
        </p:txBody>
      </p:sp>
      <p:sp>
        <p:nvSpPr>
          <p:cNvPr id="4" name="TextBox 3"/>
          <p:cNvSpPr txBox="1"/>
          <p:nvPr/>
        </p:nvSpPr>
        <p:spPr>
          <a:xfrm>
            <a:off x="548640" y="137160"/>
            <a:ext cx="10972800" cy="822960"/>
          </a:xfrm>
          <a:prstGeom prst="rect">
            <a:avLst/>
          </a:prstGeom>
          <a:noFill/>
        </p:spPr>
        <p:txBody>
          <a:bodyPr wrap="none">
            <a:spAutoFit/>
          </a:bodyPr>
          <a:lstStyle/>
          <a:p>
            <a:pPr>
              <a:defRPr sz="2800" b="1">
                <a:solidFill>
                  <a:srgbClr val="FFFFFF"/>
                </a:solidFill>
              </a:defRPr>
            </a:pPr>
            <a:r>
              <a:t>StorageClasses in AKS</a:t>
            </a:r>
          </a:p>
        </p:txBody>
      </p:sp>
      <p:graphicFrame>
        <p:nvGraphicFramePr>
          <p:cNvPr id="5" name="Table 4"/>
          <p:cNvGraphicFramePr>
            <a:graphicFrameLocks noGrp="1"/>
          </p:cNvGraphicFramePr>
          <p:nvPr/>
        </p:nvGraphicFramePr>
        <p:xfrm>
          <a:off x="548640" y="1371600"/>
          <a:ext cx="10972800" cy="2286000"/>
        </p:xfrm>
        <a:graphic>
          <a:graphicData uri="http://schemas.openxmlformats.org/drawingml/2006/table">
            <a:tbl>
              <a:tblPr firstRow="1" bandRow="1">
                <a:tableStyleId>{5C22544A-7EE6-4342-B048-85BDC9FD1C3A}</a:tableStyleId>
              </a:tblPr>
              <a:tblGrid>
                <a:gridCol w="3657600"/>
                <a:gridCol w="3657600"/>
                <a:gridCol w="3657600"/>
              </a:tblGrid>
              <a:tr h="457200">
                <a:tc>
                  <a:txBody>
                    <a:bodyPr/>
                    <a:lstStyle/>
                    <a:p>
                      <a:pPr>
                        <a:defRPr sz="1400" b="1">
                          <a:solidFill>
                            <a:srgbClr val="FFFFFF"/>
                          </a:solidFill>
                        </a:defRPr>
                      </a:pPr>
                      <a:r>
                        <a:t>StorageClass</a:t>
                      </a:r>
                    </a:p>
                  </a:txBody>
                  <a:tcPr>
                    <a:solidFill>
                      <a:srgbClr val="0078D4"/>
                    </a:solidFill>
                  </a:tcPr>
                </a:tc>
                <a:tc>
                  <a:txBody>
                    <a:bodyPr/>
                    <a:lstStyle/>
                    <a:p>
                      <a:pPr>
                        <a:defRPr sz="1400" b="1">
                          <a:solidFill>
                            <a:srgbClr val="FFFFFF"/>
                          </a:solidFill>
                        </a:defRPr>
                      </a:pPr>
                      <a:r>
                        <a:t>Type</a:t>
                      </a:r>
                    </a:p>
                  </a:txBody>
                  <a:tcPr>
                    <a:solidFill>
                      <a:srgbClr val="0078D4"/>
                    </a:solidFill>
                  </a:tcPr>
                </a:tc>
                <a:tc>
                  <a:txBody>
                    <a:bodyPr/>
                    <a:lstStyle/>
                    <a:p>
                      <a:pPr>
                        <a:defRPr sz="1400" b="1">
                          <a:solidFill>
                            <a:srgbClr val="FFFFFF"/>
                          </a:solidFill>
                        </a:defRPr>
                      </a:pPr>
                      <a:r>
                        <a:t>Access</a:t>
                      </a:r>
                    </a:p>
                  </a:txBody>
                  <a:tcPr>
                    <a:solidFill>
                      <a:srgbClr val="0078D4"/>
                    </a:solidFill>
                  </a:tcPr>
                </a:tc>
              </a:tr>
              <a:tr h="457200">
                <a:tc>
                  <a:txBody>
                    <a:bodyPr/>
                    <a:lstStyle/>
                    <a:p>
                      <a:pPr>
                        <a:defRPr sz="1300">
                          <a:solidFill>
                            <a:srgbClr val="212121"/>
                          </a:solidFill>
                        </a:defRPr>
                      </a:pPr>
                      <a:r>
                        <a:t>managed-csi</a:t>
                      </a:r>
                    </a:p>
                  </a:txBody>
                  <a:tcPr>
                    <a:solidFill>
                      <a:srgbClr val="FFFFFF"/>
                    </a:solidFill>
                  </a:tcPr>
                </a:tc>
                <a:tc>
                  <a:txBody>
                    <a:bodyPr/>
                    <a:lstStyle/>
                    <a:p>
                      <a:pPr>
                        <a:defRPr sz="1300">
                          <a:solidFill>
                            <a:srgbClr val="212121"/>
                          </a:solidFill>
                        </a:defRPr>
                      </a:pPr>
                      <a:r>
                        <a:t>Azure Disk (SSD)</a:t>
                      </a:r>
                    </a:p>
                  </a:txBody>
                  <a:tcPr>
                    <a:solidFill>
                      <a:srgbClr val="FFFFFF"/>
                    </a:solidFill>
                  </a:tcPr>
                </a:tc>
                <a:tc>
                  <a:txBody>
                    <a:bodyPr/>
                    <a:lstStyle/>
                    <a:p>
                      <a:pPr>
                        <a:defRPr sz="1300">
                          <a:solidFill>
                            <a:srgbClr val="212121"/>
                          </a:solidFill>
                        </a:defRPr>
                      </a:pPr>
                      <a:r>
                        <a:t>ReadWriteOnce (RWO)</a:t>
                      </a:r>
                    </a:p>
                  </a:txBody>
                  <a:tcPr>
                    <a:solidFill>
                      <a:srgbClr val="FFFFFF"/>
                    </a:solidFill>
                  </a:tcPr>
                </a:tc>
              </a:tr>
              <a:tr h="457200">
                <a:tc>
                  <a:txBody>
                    <a:bodyPr/>
                    <a:lstStyle/>
                    <a:p>
                      <a:pPr>
                        <a:defRPr sz="1300">
                          <a:solidFill>
                            <a:srgbClr val="212121"/>
                          </a:solidFill>
                        </a:defRPr>
                      </a:pPr>
                      <a:r>
                        <a:t>managed-csi-premium</a:t>
                      </a:r>
                    </a:p>
                  </a:txBody>
                  <a:tcPr>
                    <a:solidFill>
                      <a:srgbClr val="F0F5FA"/>
                    </a:solidFill>
                  </a:tcPr>
                </a:tc>
                <a:tc>
                  <a:txBody>
                    <a:bodyPr/>
                    <a:lstStyle/>
                    <a:p>
                      <a:pPr>
                        <a:defRPr sz="1300">
                          <a:solidFill>
                            <a:srgbClr val="212121"/>
                          </a:solidFill>
                        </a:defRPr>
                      </a:pPr>
                      <a:r>
                        <a:t>Azure Premium Disk</a:t>
                      </a:r>
                    </a:p>
                  </a:txBody>
                  <a:tcPr>
                    <a:solidFill>
                      <a:srgbClr val="F0F5FA"/>
                    </a:solidFill>
                  </a:tcPr>
                </a:tc>
                <a:tc>
                  <a:txBody>
                    <a:bodyPr/>
                    <a:lstStyle/>
                    <a:p>
                      <a:pPr>
                        <a:defRPr sz="1300">
                          <a:solidFill>
                            <a:srgbClr val="212121"/>
                          </a:solidFill>
                        </a:defRPr>
                      </a:pPr>
                      <a:r>
                        <a:t>ReadWriteOnce (RWO)</a:t>
                      </a:r>
                    </a:p>
                  </a:txBody>
                  <a:tcPr>
                    <a:solidFill>
                      <a:srgbClr val="F0F5FA"/>
                    </a:solidFill>
                  </a:tcPr>
                </a:tc>
              </a:tr>
              <a:tr h="457200">
                <a:tc>
                  <a:txBody>
                    <a:bodyPr/>
                    <a:lstStyle/>
                    <a:p>
                      <a:pPr>
                        <a:defRPr sz="1300">
                          <a:solidFill>
                            <a:srgbClr val="212121"/>
                          </a:solidFill>
                        </a:defRPr>
                      </a:pPr>
                      <a:r>
                        <a:t>azurefile-csi</a:t>
                      </a:r>
                    </a:p>
                  </a:txBody>
                  <a:tcPr>
                    <a:solidFill>
                      <a:srgbClr val="FFFFFF"/>
                    </a:solidFill>
                  </a:tcPr>
                </a:tc>
                <a:tc>
                  <a:txBody>
                    <a:bodyPr/>
                    <a:lstStyle/>
                    <a:p>
                      <a:pPr>
                        <a:defRPr sz="1300">
                          <a:solidFill>
                            <a:srgbClr val="212121"/>
                          </a:solidFill>
                        </a:defRPr>
                      </a:pPr>
                      <a:r>
                        <a:t>Azure Files</a:t>
                      </a:r>
                    </a:p>
                  </a:txBody>
                  <a:tcPr>
                    <a:solidFill>
                      <a:srgbClr val="FFFFFF"/>
                    </a:solidFill>
                  </a:tcPr>
                </a:tc>
                <a:tc>
                  <a:txBody>
                    <a:bodyPr/>
                    <a:lstStyle/>
                    <a:p>
                      <a:pPr>
                        <a:defRPr sz="1300">
                          <a:solidFill>
                            <a:srgbClr val="212121"/>
                          </a:solidFill>
                        </a:defRPr>
                      </a:pPr>
                      <a:r>
                        <a:t>ReadWriteMany (RWX)</a:t>
                      </a:r>
                    </a:p>
                  </a:txBody>
                  <a:tcPr>
                    <a:solidFill>
                      <a:srgbClr val="FFFFFF"/>
                    </a:solidFill>
                  </a:tcPr>
                </a:tc>
              </a:tr>
              <a:tr h="457200">
                <a:tc>
                  <a:txBody>
                    <a:bodyPr/>
                    <a:lstStyle/>
                    <a:p>
                      <a:pPr>
                        <a:defRPr sz="1300">
                          <a:solidFill>
                            <a:srgbClr val="212121"/>
                          </a:solidFill>
                        </a:defRPr>
                      </a:pPr>
                      <a:r>
                        <a:t>azurefile-csi-premium</a:t>
                      </a:r>
                    </a:p>
                  </a:txBody>
                  <a:tcPr>
                    <a:solidFill>
                      <a:srgbClr val="F0F5FA"/>
                    </a:solidFill>
                  </a:tcPr>
                </a:tc>
                <a:tc>
                  <a:txBody>
                    <a:bodyPr/>
                    <a:lstStyle/>
                    <a:p>
                      <a:pPr>
                        <a:defRPr sz="1300">
                          <a:solidFill>
                            <a:srgbClr val="212121"/>
                          </a:solidFill>
                        </a:defRPr>
                      </a:pPr>
                      <a:r>
                        <a:t>Azure Files Premium</a:t>
                      </a:r>
                    </a:p>
                  </a:txBody>
                  <a:tcPr>
                    <a:solidFill>
                      <a:srgbClr val="F0F5FA"/>
                    </a:solidFill>
                  </a:tcPr>
                </a:tc>
                <a:tc>
                  <a:txBody>
                    <a:bodyPr/>
                    <a:lstStyle/>
                    <a:p>
                      <a:pPr>
                        <a:defRPr sz="1300">
                          <a:solidFill>
                            <a:srgbClr val="212121"/>
                          </a:solidFill>
                        </a:defRPr>
                      </a:pPr>
                      <a:r>
                        <a:t>ReadWriteMany (RWX)</a:t>
                      </a:r>
                    </a:p>
                  </a:txBody>
                  <a:tcPr>
                    <a:solidFill>
                      <a:srgbClr val="F0F5FA"/>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46520"/>
            <a:ext cx="12188952" cy="411480"/>
          </a:xfrm>
          <a:prstGeom prst="rect">
            <a:avLst/>
          </a:prstGeom>
          <a:solidFill>
            <a:srgbClr val="00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r">
              <a:defRPr sz="1000">
                <a:solidFill>
                  <a:srgbClr val="FFFFFF"/>
                </a:solidFill>
              </a:defRPr>
            </a:pPr>
            <a:r>
              <a:t>AKS Troubleshooting Course</a:t>
            </a:r>
          </a:p>
        </p:txBody>
      </p:sp>
      <p:sp>
        <p:nvSpPr>
          <p:cNvPr id="4" name="TextBox 3"/>
          <p:cNvSpPr txBox="1"/>
          <p:nvPr/>
        </p:nvSpPr>
        <p:spPr>
          <a:xfrm>
            <a:off x="548640" y="137160"/>
            <a:ext cx="10972800" cy="822960"/>
          </a:xfrm>
          <a:prstGeom prst="rect">
            <a:avLst/>
          </a:prstGeom>
          <a:noFill/>
        </p:spPr>
        <p:txBody>
          <a:bodyPr wrap="square">
            <a:spAutoFit/>
          </a:bodyPr>
          <a:lstStyle/>
          <a:p>
            <a:pPr>
              <a:defRPr sz="2800" b="1">
                <a:solidFill>
                  <a:srgbClr val="FFFFFF"/>
                </a:solidFill>
              </a:defRPr>
            </a:pPr>
            <a:r>
              <a:t>Access Modes</a:t>
            </a:r>
          </a:p>
        </p:txBody>
      </p:sp>
      <p:sp>
        <p:nvSpPr>
          <p:cNvPr id="5" name="TextBox 4"/>
          <p:cNvSpPr txBox="1"/>
          <p:nvPr/>
        </p:nvSpPr>
        <p:spPr>
          <a:xfrm>
            <a:off x="731520" y="1280160"/>
            <a:ext cx="10515600" cy="4846320"/>
          </a:xfrm>
          <a:prstGeom prst="rect">
            <a:avLst/>
          </a:prstGeom>
          <a:noFill/>
        </p:spPr>
        <p:txBody>
          <a:bodyPr wrap="square">
            <a:spAutoFit/>
          </a:bodyPr>
          <a:lstStyle/>
          <a:p>
            <a:pPr>
              <a:spcAft>
                <a:spcPts val="600"/>
              </a:spcAft>
              <a:defRPr sz="1800">
                <a:solidFill>
                  <a:srgbClr val="212121"/>
                </a:solidFill>
              </a:defRPr>
            </a:pPr>
            <a:r>
              <a:t>ReadWriteOnce (RWO) – One node can mount read/write</a:t>
            </a:r>
          </a:p>
          <a:p>
            <a:pPr>
              <a:spcAft>
                <a:spcPts val="600"/>
              </a:spcAft>
              <a:defRPr sz="1800">
                <a:solidFill>
                  <a:srgbClr val="212121"/>
                </a:solidFill>
              </a:defRPr>
            </a:pPr>
            <a:r>
              <a:t>ReadWriteMany (RWX) – Multiple nodes can mount read/write</a:t>
            </a:r>
          </a:p>
          <a:p>
            <a:pPr>
              <a:spcAft>
                <a:spcPts val="600"/>
              </a:spcAft>
              <a:defRPr sz="1800">
                <a:solidFill>
                  <a:srgbClr val="212121"/>
                </a:solidFill>
              </a:defRPr>
            </a:pPr>
            <a:r>
              <a:t>Azure Disks only support RWO. Need RWX → use Azure Files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46520"/>
            <a:ext cx="12188952" cy="411480"/>
          </a:xfrm>
          <a:prstGeom prst="rect">
            <a:avLst/>
          </a:prstGeom>
          <a:solidFill>
            <a:srgbClr val="00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r">
              <a:defRPr sz="1000">
                <a:solidFill>
                  <a:srgbClr val="FFFFFF"/>
                </a:solidFill>
              </a:defRPr>
            </a:pPr>
            <a:r>
              <a:t>AKS Troubleshooting Course</a:t>
            </a:r>
          </a:p>
        </p:txBody>
      </p:sp>
      <p:sp>
        <p:nvSpPr>
          <p:cNvPr id="4" name="TextBox 3"/>
          <p:cNvSpPr txBox="1"/>
          <p:nvPr/>
        </p:nvSpPr>
        <p:spPr>
          <a:xfrm>
            <a:off x="548640" y="137160"/>
            <a:ext cx="10972800" cy="822960"/>
          </a:xfrm>
          <a:prstGeom prst="rect">
            <a:avLst/>
          </a:prstGeom>
          <a:noFill/>
        </p:spPr>
        <p:txBody>
          <a:bodyPr wrap="none">
            <a:spAutoFit/>
          </a:bodyPr>
          <a:lstStyle/>
          <a:p>
            <a:pPr>
              <a:defRPr sz="2800" b="1">
                <a:solidFill>
                  <a:srgbClr val="FFFFFF"/>
                </a:solidFill>
              </a:defRPr>
            </a:pPr>
            <a:r>
              <a:t>PVC Stuck in Pending</a:t>
            </a:r>
          </a:p>
        </p:txBody>
      </p:sp>
      <p:graphicFrame>
        <p:nvGraphicFramePr>
          <p:cNvPr id="5" name="Table 4"/>
          <p:cNvGraphicFramePr>
            <a:graphicFrameLocks noGrp="1"/>
          </p:cNvGraphicFramePr>
          <p:nvPr/>
        </p:nvGraphicFramePr>
        <p:xfrm>
          <a:off x="548640" y="1371600"/>
          <a:ext cx="10972800" cy="2743200"/>
        </p:xfrm>
        <a:graphic>
          <a:graphicData uri="http://schemas.openxmlformats.org/drawingml/2006/table">
            <a:tbl>
              <a:tblPr firstRow="1" bandRow="1">
                <a:tableStyleId>{5C22544A-7EE6-4342-B048-85BDC9FD1C3A}</a:tableStyleId>
              </a:tblPr>
              <a:tblGrid>
                <a:gridCol w="5486400"/>
                <a:gridCol w="5486400"/>
              </a:tblGrid>
              <a:tr h="457200">
                <a:tc>
                  <a:txBody>
                    <a:bodyPr/>
                    <a:lstStyle/>
                    <a:p>
                      <a:pPr>
                        <a:defRPr sz="1400" b="1">
                          <a:solidFill>
                            <a:srgbClr val="FFFFFF"/>
                          </a:solidFill>
                        </a:defRPr>
                      </a:pPr>
                      <a:r>
                        <a:t>Cause</a:t>
                      </a:r>
                    </a:p>
                  </a:txBody>
                  <a:tcPr>
                    <a:solidFill>
                      <a:srgbClr val="0078D4"/>
                    </a:solidFill>
                  </a:tcPr>
                </a:tc>
                <a:tc>
                  <a:txBody>
                    <a:bodyPr/>
                    <a:lstStyle/>
                    <a:p>
                      <a:pPr>
                        <a:defRPr sz="1400" b="1">
                          <a:solidFill>
                            <a:srgbClr val="FFFFFF"/>
                          </a:solidFill>
                        </a:defRPr>
                      </a:pPr>
                      <a:r>
                        <a:t>Diagnosis</a:t>
                      </a:r>
                    </a:p>
                  </a:txBody>
                  <a:tcPr>
                    <a:solidFill>
                      <a:srgbClr val="0078D4"/>
                    </a:solidFill>
                  </a:tcPr>
                </a:tc>
              </a:tr>
              <a:tr h="457200">
                <a:tc>
                  <a:txBody>
                    <a:bodyPr/>
                    <a:lstStyle/>
                    <a:p>
                      <a:pPr>
                        <a:defRPr sz="1300">
                          <a:solidFill>
                            <a:srgbClr val="212121"/>
                          </a:solidFill>
                        </a:defRPr>
                      </a:pPr>
                      <a:r>
                        <a:t>StorageClass doesn't exist</a:t>
                      </a:r>
                    </a:p>
                  </a:txBody>
                  <a:tcPr>
                    <a:solidFill>
                      <a:srgbClr val="FFFFFF"/>
                    </a:solidFill>
                  </a:tcPr>
                </a:tc>
                <a:tc>
                  <a:txBody>
                    <a:bodyPr/>
                    <a:lstStyle/>
                    <a:p>
                      <a:pPr>
                        <a:defRPr sz="1300">
                          <a:solidFill>
                            <a:srgbClr val="212121"/>
                          </a:solidFill>
                        </a:defRPr>
                      </a:pPr>
                      <a:r>
                        <a:t>kubectl get sc → check name</a:t>
                      </a:r>
                    </a:p>
                  </a:txBody>
                  <a:tcPr>
                    <a:solidFill>
                      <a:srgbClr val="FFFFFF"/>
                    </a:solidFill>
                  </a:tcPr>
                </a:tc>
              </a:tr>
              <a:tr h="457200">
                <a:tc>
                  <a:txBody>
                    <a:bodyPr/>
                    <a:lstStyle/>
                    <a:p>
                      <a:pPr>
                        <a:defRPr sz="1300">
                          <a:solidFill>
                            <a:srgbClr val="212121"/>
                          </a:solidFill>
                        </a:defRPr>
                      </a:pPr>
                      <a:r>
                        <a:t>Zone mismatch</a:t>
                      </a:r>
                    </a:p>
                  </a:txBody>
                  <a:tcPr>
                    <a:solidFill>
                      <a:srgbClr val="F0F5FA"/>
                    </a:solidFill>
                  </a:tcPr>
                </a:tc>
                <a:tc>
                  <a:txBody>
                    <a:bodyPr/>
                    <a:lstStyle/>
                    <a:p>
                      <a:pPr>
                        <a:defRPr sz="1300">
                          <a:solidFill>
                            <a:srgbClr val="212121"/>
                          </a:solidFill>
                        </a:defRPr>
                      </a:pPr>
                      <a:r>
                        <a:t>Disk in zone 1, node in zone 2</a:t>
                      </a:r>
                    </a:p>
                  </a:txBody>
                  <a:tcPr>
                    <a:solidFill>
                      <a:srgbClr val="F0F5FA"/>
                    </a:solidFill>
                  </a:tcPr>
                </a:tc>
              </a:tr>
              <a:tr h="457200">
                <a:tc>
                  <a:txBody>
                    <a:bodyPr/>
                    <a:lstStyle/>
                    <a:p>
                      <a:pPr>
                        <a:defRPr sz="1300">
                          <a:solidFill>
                            <a:srgbClr val="212121"/>
                          </a:solidFill>
                        </a:defRPr>
                      </a:pPr>
                      <a:r>
                        <a:t>Quota exceeded</a:t>
                      </a:r>
                    </a:p>
                  </a:txBody>
                  <a:tcPr>
                    <a:solidFill>
                      <a:srgbClr val="FFFFFF"/>
                    </a:solidFill>
                  </a:tcPr>
                </a:tc>
                <a:tc>
                  <a:txBody>
                    <a:bodyPr/>
                    <a:lstStyle/>
                    <a:p>
                      <a:pPr>
                        <a:defRPr sz="1300">
                          <a:solidFill>
                            <a:srgbClr val="212121"/>
                          </a:solidFill>
                        </a:defRPr>
                      </a:pPr>
                      <a:r>
                        <a:t>kubectl describe pvc → Events</a:t>
                      </a:r>
                    </a:p>
                  </a:txBody>
                  <a:tcPr>
                    <a:solidFill>
                      <a:srgbClr val="FFFFFF"/>
                    </a:solidFill>
                  </a:tcPr>
                </a:tc>
              </a:tr>
              <a:tr h="457200">
                <a:tc>
                  <a:txBody>
                    <a:bodyPr/>
                    <a:lstStyle/>
                    <a:p>
                      <a:pPr>
                        <a:defRPr sz="1300">
                          <a:solidFill>
                            <a:srgbClr val="212121"/>
                          </a:solidFill>
                        </a:defRPr>
                      </a:pPr>
                      <a:r>
                        <a:t>Wrong accessModes</a:t>
                      </a:r>
                    </a:p>
                  </a:txBody>
                  <a:tcPr>
                    <a:solidFill>
                      <a:srgbClr val="F0F5FA"/>
                    </a:solidFill>
                  </a:tcPr>
                </a:tc>
                <a:tc>
                  <a:txBody>
                    <a:bodyPr/>
                    <a:lstStyle/>
                    <a:p>
                      <a:pPr>
                        <a:defRPr sz="1300">
                          <a:solidFill>
                            <a:srgbClr val="212121"/>
                          </a:solidFill>
                        </a:defRPr>
                      </a:pPr>
                      <a:r>
                        <a:t>RWX with Azure Disk (only supports RWO)</a:t>
                      </a:r>
                    </a:p>
                  </a:txBody>
                  <a:tcPr>
                    <a:solidFill>
                      <a:srgbClr val="F0F5FA"/>
                    </a:solidFill>
                  </a:tcPr>
                </a:tc>
              </a:tr>
              <a:tr h="457200">
                <a:tc>
                  <a:txBody>
                    <a:bodyPr/>
                    <a:lstStyle/>
                    <a:p>
                      <a:pPr>
                        <a:defRPr sz="1300">
                          <a:solidFill>
                            <a:srgbClr val="212121"/>
                          </a:solidFill>
                        </a:defRPr>
                      </a:pPr>
                      <a:r>
                        <a:t>WaitForFirstConsumer</a:t>
                      </a:r>
                    </a:p>
                  </a:txBody>
                  <a:tcPr>
                    <a:solidFill>
                      <a:srgbClr val="FFFFFF"/>
                    </a:solidFill>
                  </a:tcPr>
                </a:tc>
                <a:tc>
                  <a:txBody>
                    <a:bodyPr/>
                    <a:lstStyle/>
                    <a:p>
                      <a:pPr>
                        <a:defRPr sz="1300">
                          <a:solidFill>
                            <a:srgbClr val="212121"/>
                          </a:solidFill>
                        </a:defRPr>
                      </a:pPr>
                      <a:r>
                        <a:t>Normal – binds when a pod uses it</a:t>
                      </a:r>
                    </a:p>
                  </a:txBody>
                  <a:tcP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46520"/>
            <a:ext cx="12188952" cy="411480"/>
          </a:xfrm>
          <a:prstGeom prst="rect">
            <a:avLst/>
          </a:prstGeom>
          <a:solidFill>
            <a:srgbClr val="00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r">
              <a:defRPr sz="1000">
                <a:solidFill>
                  <a:srgbClr val="FFFFFF"/>
                </a:solidFill>
              </a:defRPr>
            </a:pPr>
            <a:r>
              <a:t>AKS Troubleshooting Course</a:t>
            </a:r>
          </a:p>
        </p:txBody>
      </p:sp>
      <p:sp>
        <p:nvSpPr>
          <p:cNvPr id="4" name="TextBox 3"/>
          <p:cNvSpPr txBox="1"/>
          <p:nvPr/>
        </p:nvSpPr>
        <p:spPr>
          <a:xfrm>
            <a:off x="548640" y="137160"/>
            <a:ext cx="10972800" cy="822960"/>
          </a:xfrm>
          <a:prstGeom prst="rect">
            <a:avLst/>
          </a:prstGeom>
          <a:noFill/>
        </p:spPr>
        <p:txBody>
          <a:bodyPr wrap="none">
            <a:spAutoFit/>
          </a:bodyPr>
          <a:lstStyle/>
          <a:p>
            <a:pPr>
              <a:defRPr sz="2800" b="1">
                <a:solidFill>
                  <a:srgbClr val="FFFFFF"/>
                </a:solidFill>
              </a:defRPr>
            </a:pPr>
            <a:r>
              <a:t>Azure Disk vs Azure Files</a:t>
            </a:r>
          </a:p>
        </p:txBody>
      </p:sp>
      <p:graphicFrame>
        <p:nvGraphicFramePr>
          <p:cNvPr id="5" name="Table 4"/>
          <p:cNvGraphicFramePr>
            <a:graphicFrameLocks noGrp="1"/>
          </p:cNvGraphicFramePr>
          <p:nvPr/>
        </p:nvGraphicFramePr>
        <p:xfrm>
          <a:off x="548640" y="1371600"/>
          <a:ext cx="10972800" cy="2286000"/>
        </p:xfrm>
        <a:graphic>
          <a:graphicData uri="http://schemas.openxmlformats.org/drawingml/2006/table">
            <a:tbl>
              <a:tblPr firstRow="1" bandRow="1">
                <a:tableStyleId>{5C22544A-7EE6-4342-B048-85BDC9FD1C3A}</a:tableStyleId>
              </a:tblPr>
              <a:tblGrid>
                <a:gridCol w="3657600"/>
                <a:gridCol w="3657600"/>
                <a:gridCol w="3657600"/>
              </a:tblGrid>
              <a:tr h="457200">
                <a:tc>
                  <a:txBody>
                    <a:bodyPr/>
                    <a:lstStyle/>
                    <a:p>
                      <a:pPr>
                        <a:defRPr sz="1400" b="1">
                          <a:solidFill>
                            <a:srgbClr val="FFFFFF"/>
                          </a:solidFill>
                        </a:defRPr>
                      </a:pPr>
                      <a:r>
                        <a:t>Feature</a:t>
                      </a:r>
                    </a:p>
                  </a:txBody>
                  <a:tcPr>
                    <a:solidFill>
                      <a:srgbClr val="0078D4"/>
                    </a:solidFill>
                  </a:tcPr>
                </a:tc>
                <a:tc>
                  <a:txBody>
                    <a:bodyPr/>
                    <a:lstStyle/>
                    <a:p>
                      <a:pPr>
                        <a:defRPr sz="1400" b="1">
                          <a:solidFill>
                            <a:srgbClr val="FFFFFF"/>
                          </a:solidFill>
                        </a:defRPr>
                      </a:pPr>
                      <a:r>
                        <a:t>Azure Disk</a:t>
                      </a:r>
                    </a:p>
                  </a:txBody>
                  <a:tcPr>
                    <a:solidFill>
                      <a:srgbClr val="0078D4"/>
                    </a:solidFill>
                  </a:tcPr>
                </a:tc>
                <a:tc>
                  <a:txBody>
                    <a:bodyPr/>
                    <a:lstStyle/>
                    <a:p>
                      <a:pPr>
                        <a:defRPr sz="1400" b="1">
                          <a:solidFill>
                            <a:srgbClr val="FFFFFF"/>
                          </a:solidFill>
                        </a:defRPr>
                      </a:pPr>
                      <a:r>
                        <a:t>Azure Files</a:t>
                      </a:r>
                    </a:p>
                  </a:txBody>
                  <a:tcPr>
                    <a:solidFill>
                      <a:srgbClr val="0078D4"/>
                    </a:solidFill>
                  </a:tcPr>
                </a:tc>
              </a:tr>
              <a:tr h="457200">
                <a:tc>
                  <a:txBody>
                    <a:bodyPr/>
                    <a:lstStyle/>
                    <a:p>
                      <a:pPr>
                        <a:defRPr sz="1300">
                          <a:solidFill>
                            <a:srgbClr val="212121"/>
                          </a:solidFill>
                        </a:defRPr>
                      </a:pPr>
                      <a:r>
                        <a:t>Access</a:t>
                      </a:r>
                    </a:p>
                  </a:txBody>
                  <a:tcPr>
                    <a:solidFill>
                      <a:srgbClr val="FFFFFF"/>
                    </a:solidFill>
                  </a:tcPr>
                </a:tc>
                <a:tc>
                  <a:txBody>
                    <a:bodyPr/>
                    <a:lstStyle/>
                    <a:p>
                      <a:pPr>
                        <a:defRPr sz="1300">
                          <a:solidFill>
                            <a:srgbClr val="212121"/>
                          </a:solidFill>
                        </a:defRPr>
                      </a:pPr>
                      <a:r>
                        <a:t>RWO (one node)</a:t>
                      </a:r>
                    </a:p>
                  </a:txBody>
                  <a:tcPr>
                    <a:solidFill>
                      <a:srgbClr val="FFFFFF"/>
                    </a:solidFill>
                  </a:tcPr>
                </a:tc>
                <a:tc>
                  <a:txBody>
                    <a:bodyPr/>
                    <a:lstStyle/>
                    <a:p>
                      <a:pPr>
                        <a:defRPr sz="1300">
                          <a:solidFill>
                            <a:srgbClr val="212121"/>
                          </a:solidFill>
                        </a:defRPr>
                      </a:pPr>
                      <a:r>
                        <a:t>RWX (multi node)</a:t>
                      </a:r>
                    </a:p>
                  </a:txBody>
                  <a:tcPr>
                    <a:solidFill>
                      <a:srgbClr val="FFFFFF"/>
                    </a:solidFill>
                  </a:tcPr>
                </a:tc>
              </a:tr>
              <a:tr h="457200">
                <a:tc>
                  <a:txBody>
                    <a:bodyPr/>
                    <a:lstStyle/>
                    <a:p>
                      <a:pPr>
                        <a:defRPr sz="1300">
                          <a:solidFill>
                            <a:srgbClr val="212121"/>
                          </a:solidFill>
                        </a:defRPr>
                      </a:pPr>
                      <a:r>
                        <a:t>Performance</a:t>
                      </a:r>
                    </a:p>
                  </a:txBody>
                  <a:tcPr>
                    <a:solidFill>
                      <a:srgbClr val="F0F5FA"/>
                    </a:solidFill>
                  </a:tcPr>
                </a:tc>
                <a:tc>
                  <a:txBody>
                    <a:bodyPr/>
                    <a:lstStyle/>
                    <a:p>
                      <a:pPr>
                        <a:defRPr sz="1300">
                          <a:solidFill>
                            <a:srgbClr val="212121"/>
                          </a:solidFill>
                        </a:defRPr>
                      </a:pPr>
                      <a:r>
                        <a:t>High (SSD/Premium)</a:t>
                      </a:r>
                    </a:p>
                  </a:txBody>
                  <a:tcPr>
                    <a:solidFill>
                      <a:srgbClr val="F0F5FA"/>
                    </a:solidFill>
                  </a:tcPr>
                </a:tc>
                <a:tc>
                  <a:txBody>
                    <a:bodyPr/>
                    <a:lstStyle/>
                    <a:p>
                      <a:pPr>
                        <a:defRPr sz="1300">
                          <a:solidFill>
                            <a:srgbClr val="212121"/>
                          </a:solidFill>
                        </a:defRPr>
                      </a:pPr>
                      <a:r>
                        <a:t>Medium</a:t>
                      </a:r>
                    </a:p>
                  </a:txBody>
                  <a:tcPr>
                    <a:solidFill>
                      <a:srgbClr val="F0F5FA"/>
                    </a:solidFill>
                  </a:tcPr>
                </a:tc>
              </a:tr>
              <a:tr h="457200">
                <a:tc>
                  <a:txBody>
                    <a:bodyPr/>
                    <a:lstStyle/>
                    <a:p>
                      <a:pPr>
                        <a:defRPr sz="1300">
                          <a:solidFill>
                            <a:srgbClr val="212121"/>
                          </a:solidFill>
                        </a:defRPr>
                      </a:pPr>
                      <a:r>
                        <a:t>Use case</a:t>
                      </a:r>
                    </a:p>
                  </a:txBody>
                  <a:tcPr>
                    <a:solidFill>
                      <a:srgbClr val="FFFFFF"/>
                    </a:solidFill>
                  </a:tcPr>
                </a:tc>
                <a:tc>
                  <a:txBody>
                    <a:bodyPr/>
                    <a:lstStyle/>
                    <a:p>
                      <a:pPr>
                        <a:defRPr sz="1300">
                          <a:solidFill>
                            <a:srgbClr val="212121"/>
                          </a:solidFill>
                        </a:defRPr>
                      </a:pPr>
                      <a:r>
                        <a:t>Databases</a:t>
                      </a:r>
                    </a:p>
                  </a:txBody>
                  <a:tcPr>
                    <a:solidFill>
                      <a:srgbClr val="FFFFFF"/>
                    </a:solidFill>
                  </a:tcPr>
                </a:tc>
                <a:tc>
                  <a:txBody>
                    <a:bodyPr/>
                    <a:lstStyle/>
                    <a:p>
                      <a:pPr>
                        <a:defRPr sz="1300">
                          <a:solidFill>
                            <a:srgbClr val="212121"/>
                          </a:solidFill>
                        </a:defRPr>
                      </a:pPr>
                      <a:r>
                        <a:t>Shared files</a:t>
                      </a:r>
                    </a:p>
                  </a:txBody>
                  <a:tcPr>
                    <a:solidFill>
                      <a:srgbClr val="FFFFFF"/>
                    </a:solidFill>
                  </a:tcPr>
                </a:tc>
              </a:tr>
              <a:tr h="457200">
                <a:tc>
                  <a:txBody>
                    <a:bodyPr/>
                    <a:lstStyle/>
                    <a:p>
                      <a:pPr>
                        <a:defRPr sz="1300">
                          <a:solidFill>
                            <a:srgbClr val="212121"/>
                          </a:solidFill>
                        </a:defRPr>
                      </a:pPr>
                      <a:r>
                        <a:t>StorageClass</a:t>
                      </a:r>
                    </a:p>
                  </a:txBody>
                  <a:tcPr>
                    <a:solidFill>
                      <a:srgbClr val="F0F5FA"/>
                    </a:solidFill>
                  </a:tcPr>
                </a:tc>
                <a:tc>
                  <a:txBody>
                    <a:bodyPr/>
                    <a:lstStyle/>
                    <a:p>
                      <a:pPr>
                        <a:defRPr sz="1300">
                          <a:solidFill>
                            <a:srgbClr val="212121"/>
                          </a:solidFill>
                        </a:defRPr>
                      </a:pPr>
                      <a:r>
                        <a:t>managed-csi</a:t>
                      </a:r>
                    </a:p>
                  </a:txBody>
                  <a:tcPr>
                    <a:solidFill>
                      <a:srgbClr val="F0F5FA"/>
                    </a:solidFill>
                  </a:tcPr>
                </a:tc>
                <a:tc>
                  <a:txBody>
                    <a:bodyPr/>
                    <a:lstStyle/>
                    <a:p>
                      <a:pPr>
                        <a:defRPr sz="1300">
                          <a:solidFill>
                            <a:srgbClr val="212121"/>
                          </a:solidFill>
                        </a:defRPr>
                      </a:pPr>
                      <a:r>
                        <a:t>azurefile-csi</a:t>
                      </a:r>
                    </a:p>
                  </a:txBody>
                  <a:tcPr>
                    <a:solidFill>
                      <a:srgbClr val="F0F5FA"/>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46520"/>
            <a:ext cx="12188952" cy="411480"/>
          </a:xfrm>
          <a:prstGeom prst="rect">
            <a:avLst/>
          </a:prstGeom>
          <a:solidFill>
            <a:srgbClr val="00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r">
              <a:defRPr sz="1000">
                <a:solidFill>
                  <a:srgbClr val="FFFFFF"/>
                </a:solidFill>
              </a:defRPr>
            </a:pPr>
            <a:r>
              <a:t>AKS Troubleshooting Course</a:t>
            </a:r>
          </a:p>
        </p:txBody>
      </p:sp>
      <p:sp>
        <p:nvSpPr>
          <p:cNvPr id="4" name="TextBox 3"/>
          <p:cNvSpPr txBox="1"/>
          <p:nvPr/>
        </p:nvSpPr>
        <p:spPr>
          <a:xfrm>
            <a:off x="548640" y="137160"/>
            <a:ext cx="10972800" cy="822960"/>
          </a:xfrm>
          <a:prstGeom prst="rect">
            <a:avLst/>
          </a:prstGeom>
          <a:noFill/>
        </p:spPr>
        <p:txBody>
          <a:bodyPr wrap="none">
            <a:spAutoFit/>
          </a:bodyPr>
          <a:lstStyle/>
          <a:p>
            <a:pPr>
              <a:defRPr sz="2800" b="1">
                <a:solidFill>
                  <a:srgbClr val="FFFFFF"/>
                </a:solidFill>
              </a:defRPr>
            </a:pPr>
            <a:r>
              <a:t>Diagnosis Commands</a:t>
            </a:r>
          </a:p>
        </p:txBody>
      </p:sp>
      <p:sp>
        <p:nvSpPr>
          <p:cNvPr id="5" name="Rounded Rectangle 4"/>
          <p:cNvSpPr/>
          <p:nvPr/>
        </p:nvSpPr>
        <p:spPr>
          <a:xfrm>
            <a:off x="548640" y="1280160"/>
            <a:ext cx="10972800" cy="4754880"/>
          </a:xfrm>
          <a:prstGeom prst="roundRect">
            <a:avLst/>
          </a:prstGeom>
          <a:solidFill>
            <a:srgbClr val="282C34"/>
          </a:solidFill>
          <a:ln>
            <a:solidFill>
              <a:srgbClr val="3C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10424160" cy="4480560"/>
          </a:xfrm>
          <a:prstGeom prst="rect">
            <a:avLst/>
          </a:prstGeom>
          <a:noFill/>
        </p:spPr>
        <p:txBody>
          <a:bodyPr wrap="square">
            <a:spAutoFit/>
          </a:bodyPr>
          <a:lstStyle/>
          <a:p>
            <a:pPr>
              <a:spcAft>
                <a:spcPts val="200"/>
              </a:spcAft>
              <a:defRPr sz="1400">
                <a:solidFill>
                  <a:srgbClr val="ABB2BF"/>
                </a:solidFill>
                <a:latin typeface="Consolas"/>
              </a:defRPr>
            </a:pPr>
            <a:r>
              <a:t>kubectl get pvc                    # Status</a:t>
            </a:r>
          </a:p>
          <a:p>
            <a:pPr>
              <a:spcAft>
                <a:spcPts val="200"/>
              </a:spcAft>
              <a:defRPr sz="1400">
                <a:solidFill>
                  <a:srgbClr val="ABB2BF"/>
                </a:solidFill>
                <a:latin typeface="Consolas"/>
              </a:defRPr>
            </a:pPr>
            <a:r>
              <a:t>kubectl describe pvc &lt;name&gt;        # Events!</a:t>
            </a:r>
          </a:p>
          <a:p>
            <a:pPr>
              <a:spcAft>
                <a:spcPts val="200"/>
              </a:spcAft>
              <a:defRPr sz="1400">
                <a:solidFill>
                  <a:srgbClr val="ABB2BF"/>
                </a:solidFill>
                <a:latin typeface="Consolas"/>
              </a:defRPr>
            </a:pPr>
            <a:r>
              <a:t>kubectl get pv                     # Provisioned disks</a:t>
            </a:r>
          </a:p>
          <a:p>
            <a:pPr>
              <a:spcAft>
                <a:spcPts val="200"/>
              </a:spcAft>
              <a:defRPr sz="1400">
                <a:solidFill>
                  <a:srgbClr val="ABB2BF"/>
                </a:solidFill>
                <a:latin typeface="Consolas"/>
              </a:defRPr>
            </a:pPr>
            <a:r>
              <a:t>kubectl get sc                     # StorageClasses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9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731520"/>
            <a:ext cx="1828800" cy="548640"/>
          </a:xfrm>
          <a:prstGeom prst="roundRect">
            <a:avLst/>
          </a:prstGeom>
          <a:solidFill>
            <a:srgbClr val="1089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Lab 06</a:t>
            </a:r>
          </a:p>
        </p:txBody>
      </p:sp>
      <p:sp>
        <p:nvSpPr>
          <p:cNvPr id="4" name="TextBox 3"/>
          <p:cNvSpPr txBox="1"/>
          <p:nvPr/>
        </p:nvSpPr>
        <p:spPr>
          <a:xfrm>
            <a:off x="731520" y="1645920"/>
            <a:ext cx="10058400" cy="914400"/>
          </a:xfrm>
          <a:prstGeom prst="rect">
            <a:avLst/>
          </a:prstGeom>
          <a:noFill/>
        </p:spPr>
        <p:txBody>
          <a:bodyPr wrap="square">
            <a:spAutoFit/>
          </a:bodyPr>
          <a:lstStyle/>
          <a:p>
            <a:pPr>
              <a:defRPr sz="3200" b="1">
                <a:solidFill>
                  <a:srgbClr val="FFFFFF"/>
                </a:solidFill>
              </a:defRPr>
            </a:pPr>
            <a:r>
              <a:t>PVC Stuck in Pending</a:t>
            </a:r>
          </a:p>
        </p:txBody>
      </p:sp>
      <p:sp>
        <p:nvSpPr>
          <p:cNvPr id="5" name="TextBox 4"/>
          <p:cNvSpPr txBox="1"/>
          <p:nvPr/>
        </p:nvSpPr>
        <p:spPr>
          <a:xfrm>
            <a:off x="731520" y="2560320"/>
            <a:ext cx="10058400" cy="2011680"/>
          </a:xfrm>
          <a:prstGeom prst="rect">
            <a:avLst/>
          </a:prstGeom>
          <a:noFill/>
        </p:spPr>
        <p:txBody>
          <a:bodyPr wrap="square">
            <a:spAutoFit/>
          </a:bodyPr>
          <a:lstStyle/>
          <a:p>
            <a:pPr>
              <a:defRPr sz="1600">
                <a:solidFill>
                  <a:srgbClr val="B4C8DC"/>
                </a:solidFill>
              </a:defRPr>
            </a:pPr>
            <a:r>
              <a:t>The database team deployed a new StatefulSet for the analytics engine, but the pod is stuck in Pending. The PersistentVolumeClaim won't bind to any storage. Without the database, the entire application stack is down. Find why the storage request is failing and fix it.</a:t>
            </a:r>
          </a:p>
        </p:txBody>
      </p:sp>
      <p:sp>
        <p:nvSpPr>
          <p:cNvPr id="6" name="Rounded Rectangle 5"/>
          <p:cNvSpPr/>
          <p:nvPr/>
        </p:nvSpPr>
        <p:spPr>
          <a:xfrm>
            <a:off x="731520" y="4572000"/>
            <a:ext cx="10058400" cy="1280160"/>
          </a:xfrm>
          <a:prstGeom prst="roundRect">
            <a:avLst/>
          </a:prstGeom>
          <a:solidFill>
            <a:srgbClr val="282C34"/>
          </a:solidFill>
          <a:ln>
            <a:solidFill>
              <a:srgbClr val="1089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709160"/>
            <a:ext cx="9601200" cy="1005840"/>
          </a:xfrm>
          <a:prstGeom prst="rect">
            <a:avLst/>
          </a:prstGeom>
          <a:noFill/>
        </p:spPr>
        <p:txBody>
          <a:bodyPr wrap="square">
            <a:spAutoFit/>
          </a:bodyPr>
          <a:lstStyle/>
          <a:p>
            <a:pPr>
              <a:defRPr sz="1400">
                <a:solidFill>
                  <a:srgbClr val="10893E"/>
                </a:solidFill>
                <a:latin typeface="Consolas"/>
              </a:defRPr>
            </a:pPr>
            <a:r>
              <a:t>$ curl -L https://raw.githubusercontent.com/FYHerrera/AKSTraining/main/curso/lecciones/06-storage-y-volumenes/lab-06.sh -o lab-06.sh ; chmod +x lab-06.sh ; ./lab-06.sh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